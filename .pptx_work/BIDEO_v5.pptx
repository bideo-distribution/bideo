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13"/>
    <p:sldId id="259" r:id="rId5"/>
    <p:sldId id="260" r:id="rId6"/>
    <p:sldId id="261" r:id="rId7"/>
    <p:sldId id="262" r:id="rId8"/>
  </p:sldIdLst>
  <p:sldSz cx="24387048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1512" y="-112"/>
      </p:cViewPr>
      <p:guideLst>
        <p:guide orient="horz" pos="215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3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rk Gradient Overlay"/>
          <p:cNvSpPr/>
          <p:nvPr/>
        </p:nvSpPr>
        <p:spPr>
          <a:xfrm>
            <a:off x="0" y="0"/>
            <a:ext cx="24387048" cy="13716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8000"/>
                </a:srgbClr>
              </a:gs>
              <a:gs pos="55000">
                <a:srgbClr val="000000">
                  <a:alpha val="40000"/>
                </a:srgbClr>
              </a:gs>
              <a:gs pos="100000">
                <a:srgbClr val="000000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Accent Dot"/>
          <p:cNvSpPr/>
          <p:nvPr/>
        </p:nvSpPr>
        <p:spPr>
          <a:xfrm>
            <a:off x="1371600" y="1371600"/>
            <a:ext cx="182880" cy="182880"/>
          </a:xfrm>
          <a:prstGeom prst="ellipse">
            <a:avLst/>
          </a:prstGeom>
          <a:solidFill>
            <a:srgbClr val="8B7CFF"/>
          </a:solidFill>
          <a:ln>
            <a:solidFill/>
          </a:ln>
        </p:spPr>
        <p:txBody>
          <a:bodyPr/>
          <a:lstStyle/>
          <a:p/>
        </p:txBody>
      </p:sp>
      <p:sp>
        <p:nvSpPr>
          <p:cNvPr id="5" name="Brand Label"/>
          <p:cNvSpPr txBox="1"/>
          <p:nvPr/>
        </p:nvSpPr>
        <p:spPr>
          <a:xfrm>
            <a:off x="1737360" y="1280160"/>
            <a:ext cx="5303520" cy="4480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8B7CFF"/>
                </a:solidFill>
                <a:latin typeface="Rajdhani"/>
              </a:rPr>
              <a:t>BIDEO PLATFORM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1463040" y="4697349"/>
            <a:ext cx="11800000" cy="95097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3500" b="1">
                <a:solidFill>
                  <a:srgbClr val="8b7cff"/>
                </a:solidFill>
                <a:latin typeface="Noto Sans KR"/>
              </a:rPr>
              <a:t>영상을 사고파는</a:t>
            </a:r>
            <a:endParaRPr sz="3500" b="1">
              <a:solidFill>
                <a:srgbClr val="8b7cff"/>
              </a:solidFill>
              <a:latin typeface="Noto Sans KR"/>
            </a:endParaRPr>
          </a:p>
        </p:txBody>
      </p:sp>
      <p:sp>
        <p:nvSpPr>
          <p:cNvPr id="7" name="Main Title BIDEO"/>
          <p:cNvSpPr txBox="1"/>
          <p:nvPr/>
        </p:nvSpPr>
        <p:spPr>
          <a:xfrm>
            <a:off x="1371600" y="5648325"/>
            <a:ext cx="11800000" cy="24193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5900" b="1" spc="-200">
                <a:solidFill>
                  <a:srgbClr val="ffffff"/>
                </a:solidFill>
                <a:effectLst>
                  <a:glow rad="254000">
                    <a:srgbClr val="ffffff">
                      <a:alpha val="35000"/>
                    </a:srgbClr>
                  </a:glow>
                </a:effectLst>
                <a:latin typeface="Rajdhani"/>
              </a:rPr>
              <a:t>BIDEO</a:t>
            </a:r>
            <a:endParaRPr sz="15900" b="1" spc="-200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8" name="Tagline"/>
          <p:cNvSpPr txBox="1"/>
          <p:nvPr/>
        </p:nvSpPr>
        <p:spPr>
          <a:xfrm>
            <a:off x="1371600" y="8458200"/>
            <a:ext cx="12000000" cy="120015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lvl="0" algn="l">
              <a:defRPr/>
            </a:pPr>
            <a:r>
              <a:rPr sz="3700" b="1">
                <a:solidFill>
                  <a:srgbClr val="ffffff"/>
                </a:solidFill>
                <a:latin typeface="Noto Sans KR"/>
              </a:rPr>
              <a:t>입찰로 소장하는</a:t>
            </a:r>
            <a:endParaRPr sz="3700" b="1">
              <a:solidFill>
                <a:srgbClr val="ffffff"/>
              </a:solidFill>
              <a:latin typeface="Noto Sans KR"/>
            </a:endParaRPr>
          </a:p>
          <a:p>
            <a:pPr lvl="0" algn="l">
              <a:spcBef>
                <a:spcPts val="600"/>
              </a:spcBef>
              <a:defRPr/>
            </a:pPr>
            <a:r>
              <a:rPr sz="3700" b="1">
                <a:solidFill>
                  <a:srgbClr val="8b7cff"/>
                </a:solidFill>
                <a:latin typeface="Noto Sans KR"/>
              </a:rPr>
              <a:t>영상 경매 플랫폼</a:t>
            </a:r>
            <a:endParaRPr sz="3700" b="1">
              <a:solidFill>
                <a:srgbClr val="8b7cff"/>
              </a:solidFill>
              <a:latin typeface="Noto Sans KR"/>
            </a:endParaRPr>
          </a:p>
        </p:txBody>
      </p:sp>
      <p:sp>
        <p:nvSpPr>
          <p:cNvPr id="9" name="Description"/>
          <p:cNvSpPr txBox="1"/>
          <p:nvPr/>
        </p:nvSpPr>
        <p:spPr>
          <a:xfrm>
            <a:off x="1371600" y="11430000"/>
            <a:ext cx="11000000" cy="5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8B7CFF"/>
                </a:solidFill>
                <a:latin typeface="Noto Sans KR"/>
              </a:rPr>
              <a:t>시장 · 사용자 · 서비스 흐름 · 창작자 수익까지 한눈에</a:t>
            </a:r>
          </a:p>
        </p:txBody>
      </p:sp>
      <p:sp>
        <p:nvSpPr>
          <p:cNvPr id="10" name="Tech Stack"/>
          <p:cNvSpPr txBox="1"/>
          <p:nvPr/>
        </p:nvSpPr>
        <p:spPr>
          <a:xfrm>
            <a:off x="1371600" y="12344400"/>
            <a:ext cx="11000000" cy="24765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600" b="1" spc="200">
                <a:solidFill>
                  <a:srgbClr val="94a3b8"/>
                </a:solidFill>
                <a:latin typeface="Rajdhani"/>
              </a:rPr>
              <a:t>SPRING BOOT  ·  FASTAPI  ·  DATA ANALYSIS  </a:t>
            </a:r>
            <a:endParaRPr sz="1600" b="1" spc="200">
              <a:solidFill>
                <a:srgbClr val="94a3b8"/>
              </a:solidFill>
              <a:latin typeface="Rajdhani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71048" y="0"/>
            <a:ext cx="13716000" cy="13716000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23194898" y="12468225"/>
            <a:ext cx="833438" cy="8370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 Line"/>
          <p:cNvSpPr/>
          <p:nvPr/>
        </p:nvSpPr>
        <p:spPr>
          <a:xfrm>
            <a:off x="1371600" y="1371600"/>
            <a:ext cx="91440" cy="365760"/>
          </a:xfrm>
          <a:prstGeom prst="rect">
            <a:avLst/>
          </a:prstGeom>
          <a:solidFill>
            <a:srgbClr val="8B7CFF"/>
          </a:solidFill>
          <a:ln>
            <a:solidFill/>
          </a:ln>
        </p:spPr>
        <p:txBody>
          <a:bodyPr/>
          <a:lstStyle/>
          <a:p/>
        </p:txBody>
      </p:sp>
      <p:sp>
        <p:nvSpPr>
          <p:cNvPr id="3" name="Label"/>
          <p:cNvSpPr txBox="1"/>
          <p:nvPr/>
        </p:nvSpPr>
        <p:spPr>
          <a:xfrm>
            <a:off x="1645920" y="1371600"/>
            <a:ext cx="5742432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spc="300">
                <a:solidFill>
                  <a:srgbClr val="8B7CFF"/>
                </a:solidFill>
                <a:latin typeface="Rajdhani"/>
              </a:rPr>
              <a:t>TABLE OF CONTENTS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371600" y="2100000"/>
            <a:ext cx="14000000" cy="2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900" b="1" spc="-100">
                <a:solidFill>
                  <a:srgbClr val="FFFFFF"/>
                </a:solidFill>
                <a:latin typeface="Noto Sans KR"/>
                <a:effectLst>
                  <a:glow rad="127000">
                    <a:srgbClr val="FFFFFF">
                      <a:alpha val="40000"/>
                    </a:srgbClr>
                  </a:glow>
                </a:effectLst>
              </a:rPr>
              <a:t>목차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4000000" y="2400000"/>
            <a:ext cx="9000000" cy="20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500" b="1">
                <a:solidFill>
                  <a:srgbClr val="FFFFFF"/>
                </a:solidFill>
                <a:latin typeface="Noto Sans KR"/>
              </a:rPr>
              <a:t>BIDEO 프로젝트를</a:t>
            </a:r>
          </a:p>
          <a:p>
            <a:pPr algn="r">
              <a:spcBef>
                <a:spcPts val="400"/>
              </a:spcBef>
            </a:pPr>
            <a:r>
              <a:rPr sz="3500" b="1">
                <a:solidFill>
                  <a:srgbClr val="8B7CFF"/>
                </a:solidFill>
                <a:latin typeface="Noto Sans KR"/>
              </a:rPr>
              <a:t>다섯 가지 흐름으로 소개합니다</a:t>
            </a:r>
          </a:p>
        </p:txBody>
      </p:sp>
      <p:sp>
        <p:nvSpPr>
          <p:cNvPr id="10" name="Card 1 BG"/>
          <p:cNvSpPr/>
          <p:nvPr/>
        </p:nvSpPr>
        <p:spPr>
          <a:xfrm>
            <a:off x="1371600" y="6500000"/>
            <a:ext cx="4100000" cy="6300000"/>
          </a:xfrm>
          <a:prstGeom prst="roundRect">
            <a:avLst>
              <a:gd name="adj" fmla="val 6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11" name="Card 1 Number"/>
          <p:cNvSpPr txBox="1"/>
          <p:nvPr/>
        </p:nvSpPr>
        <p:spPr>
          <a:xfrm>
            <a:off x="1828800" y="6900000"/>
            <a:ext cx="3000000" cy="12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8B7CFF"/>
                </a:solidFill>
                <a:latin typeface="Rajdhani"/>
              </a:rPr>
              <a:t>01</a:t>
            </a:r>
          </a:p>
        </p:txBody>
      </p:sp>
      <p:sp>
        <p:nvSpPr>
          <p:cNvPr id="12" name="Card 1 EN"/>
          <p:cNvSpPr txBox="1"/>
          <p:nvPr/>
        </p:nvSpPr>
        <p:spPr>
          <a:xfrm>
            <a:off x="1828800" y="9000000"/>
            <a:ext cx="3600000" cy="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spc="200">
                <a:solidFill>
                  <a:srgbClr val="8B7CFF"/>
                </a:solidFill>
                <a:latin typeface="Rajdhani"/>
              </a:rPr>
              <a:t>MARKET</a:t>
            </a:r>
          </a:p>
        </p:txBody>
      </p:sp>
      <p:sp>
        <p:nvSpPr>
          <p:cNvPr id="13" name="Card 1 Title"/>
          <p:cNvSpPr txBox="1"/>
          <p:nvPr/>
        </p:nvSpPr>
        <p:spPr>
          <a:xfrm>
            <a:off x="1828800" y="9550000"/>
            <a:ext cx="3600000" cy="9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KR"/>
              </a:rPr>
              <a:t>콘텐츠 시장</a:t>
            </a:r>
          </a:p>
        </p:txBody>
      </p:sp>
      <p:sp>
        <p:nvSpPr>
          <p:cNvPr id="14" name="Card 1 Items"/>
          <p:cNvSpPr txBox="1"/>
          <p:nvPr/>
        </p:nvSpPr>
        <p:spPr>
          <a:xfrm>
            <a:off x="1828800" y="10700000"/>
            <a:ext cx="3600000" cy="18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B7CFF"/>
                </a:solidFill>
                <a:latin typeface="Noto Sans KR"/>
              </a:rPr>
              <a:t>콘텐츠 시장의 성장</a:t>
            </a:r>
          </a:p>
          <a:p>
            <a:pPr algn="l">
              <a:spcBef>
                <a:spcPts val="400"/>
              </a:spcBef>
            </a:pPr>
            <a:r>
              <a:rPr sz="2200" b="0">
                <a:solidFill>
                  <a:srgbClr val="8B7CFF"/>
                </a:solidFill>
                <a:latin typeface="Noto Sans KR"/>
              </a:rPr>
              <a:t>영상의 자산화 가능성</a:t>
            </a:r>
          </a:p>
        </p:txBody>
      </p:sp>
      <p:sp>
        <p:nvSpPr>
          <p:cNvPr id="20" name="Card 2 BG"/>
          <p:cNvSpPr/>
          <p:nvPr/>
        </p:nvSpPr>
        <p:spPr>
          <a:xfrm>
            <a:off x="5731600" y="6500000"/>
            <a:ext cx="4100000" cy="6300000"/>
          </a:xfrm>
          <a:prstGeom prst="roundRect">
            <a:avLst>
              <a:gd name="adj" fmla="val 6000"/>
            </a:avLst>
          </a:prstGeom>
          <a:solidFill>
            <a:srgbClr val="141C2B"/>
          </a:solidFill>
          <a:ln w="25400">
            <a:solidFill>
              <a:srgbClr val="8B7CFF"/>
            </a:solidFill>
          </a:ln>
        </p:spPr>
        <p:txBody>
          <a:bodyPr/>
          <a:lstStyle/>
          <a:p/>
        </p:txBody>
      </p:sp>
      <p:sp>
        <p:nvSpPr>
          <p:cNvPr id="21" name="Card 2 Number"/>
          <p:cNvSpPr txBox="1"/>
          <p:nvPr/>
        </p:nvSpPr>
        <p:spPr>
          <a:xfrm>
            <a:off x="6188800" y="6900000"/>
            <a:ext cx="3000000" cy="12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8B7CFF"/>
                </a:solidFill>
                <a:latin typeface="Rajdhani"/>
              </a:rPr>
              <a:t>02</a:t>
            </a:r>
          </a:p>
        </p:txBody>
      </p:sp>
      <p:sp>
        <p:nvSpPr>
          <p:cNvPr id="22" name="Card 2 EN"/>
          <p:cNvSpPr txBox="1"/>
          <p:nvPr/>
        </p:nvSpPr>
        <p:spPr>
          <a:xfrm>
            <a:off x="6188800" y="9000000"/>
            <a:ext cx="3600000" cy="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spc="200">
                <a:solidFill>
                  <a:srgbClr val="8B7CFF"/>
                </a:solidFill>
                <a:latin typeface="Rajdhani"/>
              </a:rPr>
              <a:t>WHY AUCTION</a:t>
            </a:r>
          </a:p>
        </p:txBody>
      </p:sp>
      <p:sp>
        <p:nvSpPr>
          <p:cNvPr id="23" name="Card 2 Title"/>
          <p:cNvSpPr txBox="1"/>
          <p:nvPr/>
        </p:nvSpPr>
        <p:spPr>
          <a:xfrm>
            <a:off x="6188800" y="9550000"/>
            <a:ext cx="3600000" cy="9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KR"/>
              </a:rPr>
              <a:t>경매 모델</a:t>
            </a:r>
          </a:p>
        </p:txBody>
      </p:sp>
      <p:sp>
        <p:nvSpPr>
          <p:cNvPr id="24" name="Card 2 Items"/>
          <p:cNvSpPr txBox="1"/>
          <p:nvPr/>
        </p:nvSpPr>
        <p:spPr>
          <a:xfrm>
            <a:off x="6188800" y="10700000"/>
            <a:ext cx="3600000" cy="18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B7CFF"/>
                </a:solidFill>
                <a:latin typeface="Noto Sans KR"/>
              </a:rPr>
              <a:t>시장이 결정하는 가치</a:t>
            </a:r>
          </a:p>
          <a:p>
            <a:pPr algn="l">
              <a:spcBef>
                <a:spcPts val="400"/>
              </a:spcBef>
            </a:pPr>
            <a:r>
              <a:rPr sz="2200" b="0">
                <a:solidFill>
                  <a:srgbClr val="8B7CFF"/>
                </a:solidFill>
                <a:latin typeface="Noto Sans KR"/>
              </a:rPr>
              <a:t>디지털 자산으로 소장</a:t>
            </a:r>
          </a:p>
        </p:txBody>
      </p:sp>
      <p:sp>
        <p:nvSpPr>
          <p:cNvPr id="30" name="Card 3 BG"/>
          <p:cNvSpPr/>
          <p:nvPr/>
        </p:nvSpPr>
        <p:spPr>
          <a:xfrm>
            <a:off x="10091600" y="6500000"/>
            <a:ext cx="4100000" cy="6300000"/>
          </a:xfrm>
          <a:prstGeom prst="roundRect">
            <a:avLst>
              <a:gd name="adj" fmla="val 6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31" name="Card 3 Number"/>
          <p:cNvSpPr txBox="1"/>
          <p:nvPr/>
        </p:nvSpPr>
        <p:spPr>
          <a:xfrm>
            <a:off x="10548800" y="6900000"/>
            <a:ext cx="3000000" cy="12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8B7CFF"/>
                </a:solidFill>
                <a:latin typeface="Rajdhani"/>
              </a:rPr>
              <a:t>03</a:t>
            </a:r>
          </a:p>
        </p:txBody>
      </p:sp>
      <p:sp>
        <p:nvSpPr>
          <p:cNvPr id="32" name="Card 3 EN"/>
          <p:cNvSpPr txBox="1"/>
          <p:nvPr/>
        </p:nvSpPr>
        <p:spPr>
          <a:xfrm>
            <a:off x="10548800" y="9000000"/>
            <a:ext cx="3600000" cy="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spc="200">
                <a:solidFill>
                  <a:srgbClr val="8B7CFF"/>
                </a:solidFill>
                <a:latin typeface="Rajdhani"/>
              </a:rPr>
              <a:t>USAGE</a:t>
            </a:r>
          </a:p>
        </p:txBody>
      </p:sp>
      <p:sp>
        <p:nvSpPr>
          <p:cNvPr id="33" name="Card 3 Title"/>
          <p:cNvSpPr txBox="1"/>
          <p:nvPr/>
        </p:nvSpPr>
        <p:spPr>
          <a:xfrm>
            <a:off x="10548800" y="9550000"/>
            <a:ext cx="3600000" cy="9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KR"/>
              </a:rPr>
              <a:t>이용 데이터</a:t>
            </a:r>
          </a:p>
        </p:txBody>
      </p:sp>
      <p:sp>
        <p:nvSpPr>
          <p:cNvPr id="34" name="Card 3 Items"/>
          <p:cNvSpPr txBox="1"/>
          <p:nvPr/>
        </p:nvSpPr>
        <p:spPr>
          <a:xfrm>
            <a:off x="10548800" y="10700000"/>
            <a:ext cx="3600000" cy="18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B7CFF"/>
                </a:solidFill>
                <a:latin typeface="Noto Sans KR"/>
              </a:rPr>
              <a:t>OTT·숏폼 소비 트렌드</a:t>
            </a:r>
          </a:p>
          <a:p>
            <a:pPr algn="l">
              <a:spcBef>
                <a:spcPts val="400"/>
              </a:spcBef>
            </a:pPr>
            <a:r>
              <a:rPr sz="2200" b="0">
                <a:solidFill>
                  <a:srgbClr val="8B7CFF"/>
                </a:solidFill>
                <a:latin typeface="Noto Sans KR"/>
              </a:rPr>
              <a:t>유료 영상 결제 경험</a:t>
            </a:r>
          </a:p>
        </p:txBody>
      </p:sp>
      <p:sp>
        <p:nvSpPr>
          <p:cNvPr id="40" name="Card 4 BG"/>
          <p:cNvSpPr/>
          <p:nvPr/>
        </p:nvSpPr>
        <p:spPr>
          <a:xfrm>
            <a:off x="14451600" y="6500000"/>
            <a:ext cx="4100000" cy="6300000"/>
          </a:xfrm>
          <a:prstGeom prst="roundRect">
            <a:avLst>
              <a:gd name="adj" fmla="val 6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41" name="Card 4 Number"/>
          <p:cNvSpPr txBox="1"/>
          <p:nvPr/>
        </p:nvSpPr>
        <p:spPr>
          <a:xfrm>
            <a:off x="14908800" y="6900000"/>
            <a:ext cx="3000000" cy="12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8B7CFF"/>
                </a:solidFill>
                <a:latin typeface="Rajdhani"/>
              </a:rPr>
              <a:t>04</a:t>
            </a:r>
          </a:p>
        </p:txBody>
      </p:sp>
      <p:sp>
        <p:nvSpPr>
          <p:cNvPr id="42" name="Card 4 EN"/>
          <p:cNvSpPr txBox="1"/>
          <p:nvPr/>
        </p:nvSpPr>
        <p:spPr>
          <a:xfrm>
            <a:off x="14908800" y="9000000"/>
            <a:ext cx="3600000" cy="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spc="200">
                <a:solidFill>
                  <a:srgbClr val="8B7CFF"/>
                </a:solidFill>
                <a:latin typeface="Rajdhani"/>
              </a:rPr>
              <a:t>PLATFORM</a:t>
            </a:r>
          </a:p>
        </p:txBody>
      </p:sp>
      <p:sp>
        <p:nvSpPr>
          <p:cNvPr id="43" name="Card 4 Title"/>
          <p:cNvSpPr txBox="1"/>
          <p:nvPr/>
        </p:nvSpPr>
        <p:spPr>
          <a:xfrm>
            <a:off x="14908800" y="9550000"/>
            <a:ext cx="3600000" cy="9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KR"/>
              </a:rPr>
              <a:t>모바일 경험</a:t>
            </a:r>
          </a:p>
        </p:txBody>
      </p:sp>
      <p:sp>
        <p:nvSpPr>
          <p:cNvPr id="44" name="Card 4 Items"/>
          <p:cNvSpPr txBox="1"/>
          <p:nvPr/>
        </p:nvSpPr>
        <p:spPr>
          <a:xfrm>
            <a:off x="14908800" y="10700000"/>
            <a:ext cx="3600000" cy="18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B7CFF"/>
                </a:solidFill>
                <a:latin typeface="Noto Sans KR"/>
              </a:rPr>
              <a:t>모바일 피드와 작품 화면</a:t>
            </a:r>
          </a:p>
          <a:p>
            <a:pPr algn="l">
              <a:spcBef>
                <a:spcPts val="400"/>
              </a:spcBef>
            </a:pPr>
            <a:r>
              <a:rPr sz="2200" b="0">
                <a:solidFill>
                  <a:srgbClr val="8B7CFF"/>
                </a:solidFill>
                <a:latin typeface="Noto Sans KR"/>
              </a:rPr>
              <a:t>경매로 이어지는 UX</a:t>
            </a:r>
          </a:p>
        </p:txBody>
      </p:sp>
      <p:sp>
        <p:nvSpPr>
          <p:cNvPr id="50" name="Card 5 BG"/>
          <p:cNvSpPr/>
          <p:nvPr/>
        </p:nvSpPr>
        <p:spPr>
          <a:xfrm>
            <a:off x="18811600" y="6500000"/>
            <a:ext cx="4100000" cy="6300000"/>
          </a:xfrm>
          <a:prstGeom prst="roundRect">
            <a:avLst>
              <a:gd name="adj" fmla="val 6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51" name="Card 5 Number"/>
          <p:cNvSpPr txBox="1"/>
          <p:nvPr/>
        </p:nvSpPr>
        <p:spPr>
          <a:xfrm>
            <a:off x="19268800" y="6900000"/>
            <a:ext cx="3000000" cy="12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8B7CFF"/>
                </a:solidFill>
                <a:latin typeface="Rajdhani"/>
              </a:rPr>
              <a:t>05</a:t>
            </a:r>
          </a:p>
        </p:txBody>
      </p:sp>
      <p:sp>
        <p:nvSpPr>
          <p:cNvPr id="52" name="Card 5 EN"/>
          <p:cNvSpPr txBox="1"/>
          <p:nvPr/>
        </p:nvSpPr>
        <p:spPr>
          <a:xfrm>
            <a:off x="19268800" y="9000000"/>
            <a:ext cx="3600000" cy="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spc="200">
                <a:solidFill>
                  <a:srgbClr val="8B7CFF"/>
                </a:solidFill>
                <a:latin typeface="Rajdhani"/>
              </a:rPr>
              <a:t>CREATOR</a:t>
            </a:r>
          </a:p>
        </p:txBody>
      </p:sp>
      <p:sp>
        <p:nvSpPr>
          <p:cNvPr id="53" name="Card 5 Title"/>
          <p:cNvSpPr txBox="1"/>
          <p:nvPr/>
        </p:nvSpPr>
        <p:spPr>
          <a:xfrm>
            <a:off x="19268800" y="9550000"/>
            <a:ext cx="3600000" cy="9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KR"/>
              </a:rPr>
              <a:t>창작자 경제</a:t>
            </a:r>
          </a:p>
        </p:txBody>
      </p:sp>
      <p:sp>
        <p:nvSpPr>
          <p:cNvPr id="54" name="Card 5 Items"/>
          <p:cNvSpPr txBox="1"/>
          <p:nvPr/>
        </p:nvSpPr>
        <p:spPr>
          <a:xfrm>
            <a:off x="19268800" y="10700000"/>
            <a:ext cx="3600000" cy="18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B7CFF"/>
                </a:solidFill>
                <a:latin typeface="Noto Sans KR"/>
              </a:rPr>
              <a:t>수익 격차의 현실</a:t>
            </a:r>
          </a:p>
          <a:p>
            <a:pPr algn="l">
              <a:spcBef>
                <a:spcPts val="400"/>
              </a:spcBef>
            </a:pPr>
            <a:r>
              <a:rPr sz="2200" b="0">
                <a:solidFill>
                  <a:srgbClr val="8B7CFF"/>
                </a:solidFill>
                <a:latin typeface="Noto Sans KR"/>
              </a:rPr>
              <a:t>직접 거래 수익 모델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"/>
          <p:cNvSpPr txBox="1"/>
          <p:nvPr/>
        </p:nvSpPr>
        <p:spPr>
          <a:xfrm>
            <a:off x="20800000" y="1280160"/>
            <a:ext cx="24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spc="300">
                <a:solidFill>
                  <a:srgbClr val="94A3B8"/>
                </a:solidFill>
                <a:latin typeface="Rajdhani"/>
              </a:rPr>
              <a:t>03 / 07</a:t>
            </a:r>
          </a:p>
        </p:txBody>
      </p:sp>
      <p:sp>
        <p:nvSpPr>
          <p:cNvPr id="3" name="Accent Line"/>
          <p:cNvSpPr/>
          <p:nvPr/>
        </p:nvSpPr>
        <p:spPr>
          <a:xfrm>
            <a:off x="1371600" y="1371600"/>
            <a:ext cx="91440" cy="365760"/>
          </a:xfrm>
          <a:prstGeom prst="rect">
            <a:avLst/>
          </a:prstGeom>
          <a:solidFill>
            <a:srgbClr val="8B7CFF"/>
          </a:solidFill>
          <a:ln>
            <a:solidFill/>
          </a:ln>
        </p:spPr>
        <p:txBody>
          <a:bodyPr/>
          <a:lstStyle/>
          <a:p/>
        </p:txBody>
      </p:sp>
      <p:sp>
        <p:nvSpPr>
          <p:cNvPr id="4" name="Section Label"/>
          <p:cNvSpPr txBox="1"/>
          <p:nvPr/>
        </p:nvSpPr>
        <p:spPr>
          <a:xfrm>
            <a:off x="1645920" y="1371600"/>
            <a:ext cx="60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spc="300">
                <a:solidFill>
                  <a:srgbClr val="8B7CFF"/>
                </a:solidFill>
                <a:latin typeface="Rajdhani"/>
              </a:rPr>
              <a:t>MARKET VOLUME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371600" y="2100000"/>
            <a:ext cx="21000000" cy="20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spc="-50">
                <a:solidFill>
                  <a:srgbClr val="FFFFFF"/>
                </a:solidFill>
                <a:latin typeface="Noto Sans KR"/>
              </a:rPr>
              <a:t xml:space="preserve">빠르게 커지는 콘텐츠 시장, </a:t>
            </a:r>
            <a:r>
              <a:rPr sz="3400" b="1" spc="-50">
                <a:solidFill>
                  <a:srgbClr val="8B7CFF"/>
                </a:solidFill>
                <a:latin typeface="Noto Sans KR"/>
              </a:rPr>
              <a:t>BIDEO가 만드는 새 무대</a:t>
            </a:r>
          </a:p>
        </p:txBody>
      </p:sp>
      <p:sp>
        <p:nvSpPr>
          <p:cNvPr id="10" name="Chart Card"/>
          <p:cNvSpPr/>
          <p:nvPr/>
        </p:nvSpPr>
        <p:spPr>
          <a:xfrm>
            <a:off x="1371600" y="5200000"/>
            <a:ext cx="13000000" cy="7600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20" name="Right Card 1 BG"/>
          <p:cNvSpPr/>
          <p:nvPr/>
        </p:nvSpPr>
        <p:spPr>
          <a:xfrm>
            <a:off x="15000000" y="5200000"/>
            <a:ext cx="8000000" cy="3600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21" name="Stat 157"/>
          <p:cNvSpPr txBox="1"/>
          <p:nvPr/>
        </p:nvSpPr>
        <p:spPr>
          <a:xfrm>
            <a:off x="15500000" y="5500000"/>
            <a:ext cx="7000000" cy="17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100" b="1">
                <a:solidFill>
                  <a:srgbClr val="8B7CFF"/>
                </a:solidFill>
                <a:latin typeface="Rajdhani"/>
                <a:effectLst>
                  <a:glow rad="127000">
                    <a:srgbClr val="8B7CFF">
                      <a:alpha val="40000"/>
                    </a:srgbClr>
                  </a:glow>
                </a:effectLst>
              </a:rPr>
              <a:t>157</a:t>
            </a:r>
            <a:r>
              <a:rPr sz="3800" b="1" baseline="30000">
                <a:solidFill>
                  <a:srgbClr val="8B7CFF"/>
                </a:solidFill>
                <a:latin typeface="Noto Sans KR"/>
                <a:effectLst>
                  <a:glow rad="127000">
                    <a:srgbClr val="8B7CFF">
                      <a:alpha val="40000"/>
                    </a:srgbClr>
                  </a:glow>
                </a:effectLst>
              </a:rPr>
              <a:t>조원</a:t>
            </a:r>
          </a:p>
        </p:txBody>
      </p:sp>
      <p:sp>
        <p:nvSpPr>
          <p:cNvPr id="22" name="Stat Label"/>
          <p:cNvSpPr txBox="1"/>
          <p:nvPr/>
        </p:nvSpPr>
        <p:spPr>
          <a:xfrm>
            <a:off x="15500000" y="7400000"/>
            <a:ext cx="7000000" cy="13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Noto Sans KR"/>
              </a:rPr>
              <a:t>2024 국내 콘텐츠 산업 매출</a:t>
            </a:r>
          </a:p>
          <a:p>
            <a:pPr algn="l">
              <a:spcBef>
                <a:spcPts val="300"/>
              </a:spcBef>
            </a:pPr>
            <a:r>
              <a:rPr sz="2600" b="0">
                <a:solidFill>
                  <a:srgbClr val="8B7CFF"/>
                </a:solidFill>
                <a:latin typeface="Noto Sans KR"/>
              </a:rPr>
              <a:t>2020년 128조 원 → 2024년 157조 원</a:t>
            </a:r>
          </a:p>
        </p:txBody>
      </p:sp>
      <p:sp>
        <p:nvSpPr>
          <p:cNvPr id="30" name="Right Card 2 BG"/>
          <p:cNvSpPr/>
          <p:nvPr/>
        </p:nvSpPr>
        <p:spPr>
          <a:xfrm>
            <a:off x="15000000" y="9200000"/>
            <a:ext cx="8000000" cy="3600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31" name="Opp Label"/>
          <p:cNvSpPr txBox="1"/>
          <p:nvPr/>
        </p:nvSpPr>
        <p:spPr>
          <a:xfrm>
            <a:off x="15500000" y="9550000"/>
            <a:ext cx="7000000" cy="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spc="300">
                <a:solidFill>
                  <a:srgbClr val="8B7CFF"/>
                </a:solidFill>
                <a:latin typeface="Rajdhani"/>
              </a:rPr>
              <a:t>OPPORTUNITY</a:t>
            </a:r>
          </a:p>
        </p:txBody>
      </p:sp>
      <p:sp>
        <p:nvSpPr>
          <p:cNvPr id="32" name="Opp Title"/>
          <p:cNvSpPr txBox="1"/>
          <p:nvPr/>
        </p:nvSpPr>
        <p:spPr>
          <a:xfrm>
            <a:off x="15500000" y="10100000"/>
            <a:ext cx="7000000" cy="8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Noto Sans KR"/>
              </a:rPr>
              <a:t>BIDEO가 보는 기회</a:t>
            </a:r>
          </a:p>
        </p:txBody>
      </p:sp>
      <p:sp>
        <p:nvSpPr>
          <p:cNvPr id="33" name="Opp Body"/>
          <p:cNvSpPr txBox="1"/>
          <p:nvPr/>
        </p:nvSpPr>
        <p:spPr>
          <a:xfrm>
            <a:off x="15500000" y="11100000"/>
            <a:ext cx="7000000" cy="15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C2CCDA"/>
                </a:solidFill>
                <a:latin typeface="Noto Sans KR"/>
              </a:rPr>
              <a:t>BIDEO는 영상을 단순 소비재가 아니라,</a:t>
            </a:r>
          </a:p>
          <a:p>
            <a:pPr algn="l">
              <a:spcBef>
                <a:spcPts val="300"/>
              </a:spcBef>
            </a:pPr>
            <a:r>
              <a:rPr sz="2600" b="0">
                <a:solidFill>
                  <a:srgbClr val="C2CCDA"/>
                </a:solidFill>
                <a:latin typeface="Noto Sans KR"/>
              </a:rPr>
              <a:t>입찰과 낙찰로 가치가 매겨지는</a:t>
            </a:r>
          </a:p>
          <a:p>
            <a:pPr algn="l">
              <a:spcBef>
                <a:spcPts val="300"/>
              </a:spcBef>
            </a:pPr>
            <a:r>
              <a:rPr sz="2600" b="1">
                <a:solidFill>
                  <a:srgbClr val="8B7CFF"/>
                </a:solidFill>
                <a:latin typeface="Noto Sans KR"/>
              </a:rPr>
              <a:t>디지털 자산으로 만듭니다.</a:t>
            </a:r>
          </a:p>
        </p:txBody>
      </p:sp>
      <p:pic>
        <p:nvPicPr>
          <p:cNvPr id="3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737096"/>
            <a:ext cx="14740227" cy="8978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"/>
          <p:cNvSpPr txBox="1"/>
          <p:nvPr/>
        </p:nvSpPr>
        <p:spPr>
          <a:xfrm>
            <a:off x="20800000" y="1280160"/>
            <a:ext cx="24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spc="300">
                <a:solidFill>
                  <a:srgbClr val="94A3B8"/>
                </a:solidFill>
                <a:latin typeface="Rajdhani"/>
              </a:rPr>
              <a:t>05 / 07</a:t>
            </a:r>
          </a:p>
        </p:txBody>
      </p:sp>
      <p:sp>
        <p:nvSpPr>
          <p:cNvPr id="3" name="Accent Line"/>
          <p:cNvSpPr/>
          <p:nvPr/>
        </p:nvSpPr>
        <p:spPr>
          <a:xfrm>
            <a:off x="1371600" y="1371600"/>
            <a:ext cx="91440" cy="365760"/>
          </a:xfrm>
          <a:prstGeom prst="rect">
            <a:avLst/>
          </a:prstGeom>
          <a:solidFill>
            <a:srgbClr val="8B7CFF"/>
          </a:solidFill>
          <a:ln>
            <a:solidFill/>
          </a:ln>
        </p:spPr>
        <p:txBody>
          <a:bodyPr/>
          <a:lstStyle/>
          <a:p/>
        </p:txBody>
      </p:sp>
      <p:sp>
        <p:nvSpPr>
          <p:cNvPr id="4" name="Section Label"/>
          <p:cNvSpPr txBox="1"/>
          <p:nvPr/>
        </p:nvSpPr>
        <p:spPr>
          <a:xfrm>
            <a:off x="1645920" y="1371600"/>
            <a:ext cx="80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spc="300">
                <a:solidFill>
                  <a:srgbClr val="8B7CFF"/>
                </a:solidFill>
                <a:latin typeface="Rajdhani"/>
              </a:rPr>
              <a:t>USAGE &amp; REVENUE MODEL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371600" y="2100000"/>
            <a:ext cx="21000000" cy="20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spc="-50">
                <a:solidFill>
                  <a:srgbClr val="FFFFFF"/>
                </a:solidFill>
                <a:latin typeface="Noto Sans KR"/>
              </a:rPr>
              <a:t xml:space="preserve">익숙해진 유료 영상 결제, </a:t>
            </a:r>
            <a:r>
              <a:rPr sz="3400" b="1" spc="-50">
                <a:solidFill>
                  <a:srgbClr val="8B7CFF"/>
                </a:solidFill>
                <a:latin typeface="Noto Sans KR"/>
              </a:rPr>
              <a:t>이제 경매로 한 걸음 더</a:t>
            </a:r>
          </a:p>
        </p:txBody>
      </p:sp>
      <p:sp>
        <p:nvSpPr>
          <p:cNvPr id="20" name="Col2 BG"/>
          <p:cNvSpPr/>
          <p:nvPr/>
        </p:nvSpPr>
        <p:spPr>
          <a:xfrm>
            <a:off x="13746624" y="5349213"/>
            <a:ext cx="4900000" cy="7800000"/>
          </a:xfrm>
          <a:prstGeom prst="roundRect">
            <a:avLst>
              <a:gd name="adj" fmla="val 4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21" name="Col2 Label"/>
          <p:cNvSpPr txBox="1"/>
          <p:nvPr/>
        </p:nvSpPr>
        <p:spPr>
          <a:xfrm>
            <a:off x="14023841" y="5699212"/>
            <a:ext cx="4200000" cy="393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 spc="300">
                <a:solidFill>
                  <a:srgbClr val="8b7cff"/>
                </a:solidFill>
                <a:latin typeface="Rajdhani"/>
              </a:rPr>
              <a:t>REVENUE STREAMS</a:t>
            </a:r>
            <a:endParaRPr sz="2600" b="1" spc="300">
              <a:solidFill>
                <a:srgbClr val="8b7cff"/>
              </a:solidFill>
              <a:latin typeface="Rajdhani"/>
            </a:endParaRPr>
          </a:p>
        </p:txBody>
      </p:sp>
      <p:sp>
        <p:nvSpPr>
          <p:cNvPr id="22" name="Col2 Title"/>
          <p:cNvSpPr txBox="1"/>
          <p:nvPr/>
        </p:nvSpPr>
        <p:spPr>
          <a:xfrm>
            <a:off x="14023841" y="6299212"/>
            <a:ext cx="4200000" cy="11175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700" b="1">
                <a:solidFill>
                  <a:srgbClr val="ffffff"/>
                </a:solidFill>
                <a:latin typeface="Noto Sans KR"/>
              </a:rPr>
              <a:t>BIDEO의</a:t>
            </a:r>
            <a:endParaRPr sz="3700" b="1">
              <a:solidFill>
                <a:srgbClr val="ffffff"/>
              </a:solidFill>
              <a:latin typeface="Noto Sans KR"/>
            </a:endParaRPr>
          </a:p>
          <a:p>
            <a:pPr algn="l">
              <a:defRPr/>
            </a:pPr>
            <a:r>
              <a:rPr sz="3700" b="1">
                <a:solidFill>
                  <a:srgbClr val="ffffff"/>
                </a:solidFill>
                <a:latin typeface="Noto Sans KR"/>
              </a:rPr>
              <a:t>거래 구조</a:t>
            </a:r>
            <a:endParaRPr sz="3700" b="1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3" name="Col2 Body"/>
          <p:cNvSpPr txBox="1"/>
          <p:nvPr/>
        </p:nvSpPr>
        <p:spPr>
          <a:xfrm>
            <a:off x="14023841" y="8349212"/>
            <a:ext cx="4200000" cy="267755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8b7cff"/>
                </a:solidFill>
                <a:latin typeface="Rajdhani"/>
              </a:rPr>
              <a:t>01</a:t>
            </a:r>
            <a:endParaRPr sz="2600" b="1">
              <a:solidFill>
                <a:srgbClr val="8b7cff"/>
              </a:solidFill>
              <a:latin typeface="Rajdhani"/>
            </a:endParaRPr>
          </a:p>
          <a:p>
            <a:pPr algn="l">
              <a:spcBef>
                <a:spcPts val="200"/>
              </a:spcBef>
              <a:defRPr/>
            </a:pPr>
            <a:r>
              <a:rPr sz="2600" b="1">
                <a:solidFill>
                  <a:srgbClr val="ffffff"/>
                </a:solidFill>
                <a:latin typeface="Noto Sans KR"/>
              </a:rPr>
              <a:t>낙찰가로 거래되는 영상</a:t>
            </a:r>
            <a:endParaRPr sz="2600" b="1">
              <a:solidFill>
                <a:srgbClr val="ffffff"/>
              </a:solidFill>
              <a:latin typeface="Noto Sans KR"/>
            </a:endParaRPr>
          </a:p>
          <a:p>
            <a:pPr algn="l">
              <a:spcBef>
                <a:spcPts val="900"/>
              </a:spcBef>
              <a:defRPr/>
            </a:pPr>
            <a:r>
              <a:rPr sz="2600" b="1">
                <a:solidFill>
                  <a:srgbClr val="8b7cff"/>
                </a:solidFill>
                <a:latin typeface="Rajdhani"/>
              </a:rPr>
              <a:t>02</a:t>
            </a:r>
            <a:endParaRPr sz="2600" b="1">
              <a:solidFill>
                <a:srgbClr val="8b7cff"/>
              </a:solidFill>
              <a:latin typeface="Rajdhani"/>
            </a:endParaRPr>
          </a:p>
          <a:p>
            <a:pPr algn="l">
              <a:spcBef>
                <a:spcPts val="200"/>
              </a:spcBef>
              <a:defRPr/>
            </a:pPr>
            <a:r>
              <a:rPr sz="2600" b="1">
                <a:solidFill>
                  <a:srgbClr val="ffffff"/>
                </a:solidFill>
                <a:latin typeface="Noto Sans KR"/>
              </a:rPr>
              <a:t>거래액의 10% 수수료</a:t>
            </a:r>
            <a:endParaRPr sz="2600" b="1">
              <a:solidFill>
                <a:srgbClr val="ffffff"/>
              </a:solidFill>
              <a:latin typeface="Noto Sans KR"/>
            </a:endParaRPr>
          </a:p>
          <a:p>
            <a:pPr algn="l">
              <a:spcBef>
                <a:spcPts val="900"/>
              </a:spcBef>
              <a:defRPr/>
            </a:pPr>
            <a:r>
              <a:rPr sz="2600" b="1">
                <a:solidFill>
                  <a:srgbClr val="8b7cff"/>
                </a:solidFill>
                <a:latin typeface="Rajdhani"/>
              </a:rPr>
              <a:t>03</a:t>
            </a:r>
            <a:endParaRPr sz="2600" b="1">
              <a:solidFill>
                <a:srgbClr val="8b7cff"/>
              </a:solidFill>
              <a:latin typeface="Rajdhani"/>
            </a:endParaRPr>
          </a:p>
          <a:p>
            <a:pPr algn="l">
              <a:spcBef>
                <a:spcPts val="200"/>
              </a:spcBef>
              <a:defRPr/>
            </a:pPr>
            <a:r>
              <a:rPr sz="2600" b="1">
                <a:solidFill>
                  <a:srgbClr val="ffffff"/>
                </a:solidFill>
                <a:latin typeface="Noto Sans KR"/>
              </a:rPr>
              <a:t>창작자 직접 수익</a:t>
            </a:r>
            <a:endParaRPr sz="2600" b="1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0" name="Col3 BG"/>
          <p:cNvSpPr/>
          <p:nvPr/>
        </p:nvSpPr>
        <p:spPr>
          <a:xfrm>
            <a:off x="19069148" y="5349213"/>
            <a:ext cx="4900000" cy="7800000"/>
          </a:xfrm>
          <a:prstGeom prst="roundRect">
            <a:avLst>
              <a:gd name="adj" fmla="val 4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1" name="Col3 Label"/>
          <p:cNvSpPr txBox="1"/>
          <p:nvPr/>
        </p:nvSpPr>
        <p:spPr>
          <a:xfrm>
            <a:off x="19346364" y="5699212"/>
            <a:ext cx="4200000" cy="393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 spc="300">
                <a:solidFill>
                  <a:srgbClr val="8b7cff"/>
                </a:solidFill>
                <a:latin typeface="Rajdhani"/>
              </a:rPr>
              <a:t>AI FEATURES</a:t>
            </a:r>
            <a:endParaRPr sz="2600" b="1" spc="300">
              <a:solidFill>
                <a:srgbClr val="8b7cff"/>
              </a:solidFill>
              <a:latin typeface="Rajdhani"/>
            </a:endParaRPr>
          </a:p>
        </p:txBody>
      </p:sp>
      <p:sp>
        <p:nvSpPr>
          <p:cNvPr id="32" name="Col3 Title"/>
          <p:cNvSpPr txBox="1"/>
          <p:nvPr/>
        </p:nvSpPr>
        <p:spPr>
          <a:xfrm>
            <a:off x="19346364" y="6299212"/>
            <a:ext cx="4200000" cy="11175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700" b="1">
                <a:solidFill>
                  <a:srgbClr val="ffffff"/>
                </a:solidFill>
                <a:latin typeface="Noto Sans KR"/>
              </a:rPr>
              <a:t>데이터로</a:t>
            </a:r>
            <a:endParaRPr sz="3700" b="1">
              <a:solidFill>
                <a:srgbClr val="ffffff"/>
              </a:solidFill>
              <a:latin typeface="Noto Sans KR"/>
            </a:endParaRPr>
          </a:p>
          <a:p>
            <a:pPr algn="l">
              <a:defRPr/>
            </a:pPr>
            <a:r>
              <a:rPr sz="3700" b="1">
                <a:solidFill>
                  <a:srgbClr val="ffffff"/>
                </a:solidFill>
                <a:latin typeface="Noto Sans KR"/>
              </a:rPr>
              <a:t>키워가는 성장</a:t>
            </a:r>
            <a:endParaRPr sz="3700" b="1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3" name="Col3 Body"/>
          <p:cNvSpPr txBox="1"/>
          <p:nvPr/>
        </p:nvSpPr>
        <p:spPr>
          <a:xfrm>
            <a:off x="19346364" y="8349212"/>
            <a:ext cx="4200000" cy="267755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8b7cff"/>
                </a:solidFill>
                <a:latin typeface="Rajdhani"/>
              </a:rPr>
              <a:t>01</a:t>
            </a:r>
            <a:endParaRPr sz="2600" b="1">
              <a:solidFill>
                <a:srgbClr val="8b7cff"/>
              </a:solidFill>
              <a:latin typeface="Rajdhani"/>
            </a:endParaRPr>
          </a:p>
          <a:p>
            <a:pPr algn="l">
              <a:spcBef>
                <a:spcPts val="200"/>
              </a:spcBef>
              <a:defRPr/>
            </a:pPr>
            <a:r>
              <a:rPr sz="2600" b="1">
                <a:solidFill>
                  <a:srgbClr val="ffffff"/>
                </a:solidFill>
                <a:latin typeface="Noto Sans KR"/>
              </a:rPr>
              <a:t>AI 조회수 예측</a:t>
            </a:r>
            <a:endParaRPr sz="2600" b="1">
              <a:solidFill>
                <a:srgbClr val="ffffff"/>
              </a:solidFill>
              <a:latin typeface="Noto Sans KR"/>
            </a:endParaRPr>
          </a:p>
          <a:p>
            <a:pPr algn="l">
              <a:spcBef>
                <a:spcPts val="900"/>
              </a:spcBef>
              <a:defRPr/>
            </a:pPr>
            <a:r>
              <a:rPr sz="2600" b="1">
                <a:solidFill>
                  <a:srgbClr val="8b7cff"/>
                </a:solidFill>
                <a:latin typeface="Rajdhani"/>
              </a:rPr>
              <a:t>02</a:t>
            </a:r>
            <a:endParaRPr sz="2600" b="1">
              <a:solidFill>
                <a:srgbClr val="8b7cff"/>
              </a:solidFill>
              <a:latin typeface="Rajdhani"/>
            </a:endParaRPr>
          </a:p>
          <a:p>
            <a:pPr algn="l">
              <a:spcBef>
                <a:spcPts val="200"/>
              </a:spcBef>
              <a:defRPr/>
            </a:pPr>
            <a:r>
              <a:rPr sz="2600" b="1">
                <a:solidFill>
                  <a:srgbClr val="ffffff"/>
                </a:solidFill>
                <a:latin typeface="Noto Sans KR"/>
              </a:rPr>
              <a:t>AI 이미지 자동 생성</a:t>
            </a:r>
            <a:endParaRPr sz="2600" b="1">
              <a:solidFill>
                <a:srgbClr val="ffffff"/>
              </a:solidFill>
              <a:latin typeface="Noto Sans KR"/>
            </a:endParaRPr>
          </a:p>
          <a:p>
            <a:pPr algn="l">
              <a:spcBef>
                <a:spcPts val="900"/>
              </a:spcBef>
              <a:defRPr/>
            </a:pPr>
            <a:r>
              <a:rPr sz="2600" b="1">
                <a:solidFill>
                  <a:srgbClr val="8b7cff"/>
                </a:solidFill>
                <a:latin typeface="Rajdhani"/>
              </a:rPr>
              <a:t>03</a:t>
            </a:r>
            <a:endParaRPr sz="2600" b="1">
              <a:solidFill>
                <a:srgbClr val="8b7cff"/>
              </a:solidFill>
              <a:latin typeface="Rajdhani"/>
            </a:endParaRPr>
          </a:p>
          <a:p>
            <a:pPr algn="l">
              <a:spcBef>
                <a:spcPts val="200"/>
              </a:spcBef>
              <a:defRPr/>
            </a:pPr>
            <a:r>
              <a:rPr sz="2600" b="1">
                <a:solidFill>
                  <a:srgbClr val="ffffff"/>
                </a:solidFill>
                <a:latin typeface="Noto Sans KR"/>
              </a:rPr>
              <a:t>RAG 경매 분석</a:t>
            </a:r>
            <a:endParaRPr sz="2600" b="1">
              <a:solidFill>
                <a:srgbClr val="ffffff"/>
              </a:solidFill>
              <a:latin typeface="Noto Sans KR"/>
            </a:endParaRPr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7446" y="5178995"/>
            <a:ext cx="12808062" cy="7970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"/>
          <p:cNvSpPr txBox="1"/>
          <p:nvPr/>
        </p:nvSpPr>
        <p:spPr>
          <a:xfrm>
            <a:off x="20800000" y="1280160"/>
            <a:ext cx="24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spc="300">
                <a:solidFill>
                  <a:srgbClr val="94A3B8"/>
                </a:solidFill>
                <a:latin typeface="Rajdhani"/>
              </a:rPr>
              <a:t>06 / 07</a:t>
            </a:r>
          </a:p>
        </p:txBody>
      </p:sp>
      <p:sp>
        <p:nvSpPr>
          <p:cNvPr id="3" name="Accent Line"/>
          <p:cNvSpPr/>
          <p:nvPr/>
        </p:nvSpPr>
        <p:spPr>
          <a:xfrm>
            <a:off x="1371600" y="1371600"/>
            <a:ext cx="91440" cy="365760"/>
          </a:xfrm>
          <a:prstGeom prst="rect">
            <a:avLst/>
          </a:prstGeom>
          <a:solidFill>
            <a:srgbClr val="8B7CFF"/>
          </a:solidFill>
          <a:ln>
            <a:solidFill/>
          </a:ln>
        </p:spPr>
        <p:txBody>
          <a:bodyPr/>
          <a:lstStyle/>
          <a:p/>
        </p:txBody>
      </p:sp>
      <p:sp>
        <p:nvSpPr>
          <p:cNvPr id="4" name="Section Label"/>
          <p:cNvSpPr txBox="1"/>
          <p:nvPr/>
        </p:nvSpPr>
        <p:spPr>
          <a:xfrm>
            <a:off x="1645920" y="1371600"/>
            <a:ext cx="60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spc="300">
                <a:solidFill>
                  <a:srgbClr val="8B7CFF"/>
                </a:solidFill>
                <a:latin typeface="Rajdhani"/>
              </a:rPr>
              <a:t>MOBILE PLATFORM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371600" y="2100000"/>
            <a:ext cx="21000000" cy="20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spc="-50">
                <a:solidFill>
                  <a:srgbClr val="FFFFFF"/>
                </a:solidFill>
                <a:latin typeface="Noto Sans KR"/>
              </a:rPr>
              <a:t xml:space="preserve">피드에서 경매까지, </a:t>
            </a:r>
            <a:r>
              <a:rPr sz="3400" b="1" spc="-50">
                <a:solidFill>
                  <a:srgbClr val="8B7CFF"/>
                </a:solidFill>
                <a:latin typeface="Noto Sans KR"/>
              </a:rPr>
              <a:t>끊김 없는 사용자 경험</a:t>
            </a:r>
          </a:p>
        </p:txBody>
      </p:sp>
      <p:sp>
        <p:nvSpPr>
          <p:cNvPr id="10" name="Image Card"/>
          <p:cNvSpPr/>
          <p:nvPr/>
        </p:nvSpPr>
        <p:spPr>
          <a:xfrm>
            <a:off x="1371600" y="5200000"/>
            <a:ext cx="14400000" cy="7800000"/>
          </a:xfrm>
          <a:prstGeom prst="roundRect">
            <a:avLst>
              <a:gd name="adj" fmla="val 35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20" name="Flow Card BG"/>
          <p:cNvSpPr/>
          <p:nvPr/>
        </p:nvSpPr>
        <p:spPr>
          <a:xfrm>
            <a:off x="16400000" y="5200000"/>
            <a:ext cx="6600000" cy="7800000"/>
          </a:xfrm>
          <a:prstGeom prst="roundRect">
            <a:avLst>
              <a:gd name="adj" fmla="val 4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21" name="Flow Label"/>
          <p:cNvSpPr txBox="1"/>
          <p:nvPr/>
        </p:nvSpPr>
        <p:spPr>
          <a:xfrm>
            <a:off x="17000000" y="5650000"/>
            <a:ext cx="5400000" cy="5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spc="300">
                <a:solidFill>
                  <a:srgbClr val="8B7CFF"/>
                </a:solidFill>
                <a:latin typeface="Rajdhani"/>
              </a:rPr>
              <a:t>CORE FLOW</a:t>
            </a:r>
          </a:p>
        </p:txBody>
      </p:sp>
      <p:sp>
        <p:nvSpPr>
          <p:cNvPr id="22" name="Flow Title"/>
          <p:cNvSpPr txBox="1"/>
          <p:nvPr/>
        </p:nvSpPr>
        <p:spPr>
          <a:xfrm>
            <a:off x="17000000" y="6300000"/>
            <a:ext cx="5400000" cy="9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Noto Sans KR"/>
              </a:rPr>
              <a:t>핵심 사용 흐름</a:t>
            </a:r>
          </a:p>
        </p:txBody>
      </p:sp>
      <p:sp>
        <p:nvSpPr>
          <p:cNvPr id="23" name="Step 1 Num"/>
          <p:cNvSpPr txBox="1"/>
          <p:nvPr/>
        </p:nvSpPr>
        <p:spPr>
          <a:xfrm>
            <a:off x="17000000" y="7700000"/>
            <a:ext cx="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8B7CFF"/>
                </a:solidFill>
                <a:latin typeface="Rajdhani"/>
              </a:rPr>
              <a:t>01</a:t>
            </a:r>
          </a:p>
        </p:txBody>
      </p:sp>
      <p:sp>
        <p:nvSpPr>
          <p:cNvPr id="24" name="Step 1 Text"/>
          <p:cNvSpPr txBox="1"/>
          <p:nvPr/>
        </p:nvSpPr>
        <p:spPr>
          <a:xfrm>
            <a:off x="17800000" y="7700000"/>
            <a:ext cx="4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KR"/>
              </a:rPr>
              <a:t>숏폼 피드에서 작품 발견</a:t>
            </a:r>
          </a:p>
        </p:txBody>
      </p:sp>
      <p:sp>
        <p:nvSpPr>
          <p:cNvPr id="25" name="Step 2 Num"/>
          <p:cNvSpPr txBox="1"/>
          <p:nvPr/>
        </p:nvSpPr>
        <p:spPr>
          <a:xfrm>
            <a:off x="17000000" y="8800000"/>
            <a:ext cx="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8B7CFF"/>
                </a:solidFill>
                <a:latin typeface="Rajdhani"/>
              </a:rPr>
              <a:t>02</a:t>
            </a:r>
          </a:p>
        </p:txBody>
      </p:sp>
      <p:sp>
        <p:nvSpPr>
          <p:cNvPr id="26" name="Step 2 Text"/>
          <p:cNvSpPr txBox="1"/>
          <p:nvPr/>
        </p:nvSpPr>
        <p:spPr>
          <a:xfrm>
            <a:off x="17800000" y="8800000"/>
            <a:ext cx="4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KR"/>
              </a:rPr>
              <a:t>상세 정보와 반응 지표 확인</a:t>
            </a:r>
          </a:p>
        </p:txBody>
      </p:sp>
      <p:sp>
        <p:nvSpPr>
          <p:cNvPr id="27" name="Step 3 Num"/>
          <p:cNvSpPr txBox="1"/>
          <p:nvPr/>
        </p:nvSpPr>
        <p:spPr>
          <a:xfrm>
            <a:off x="17000000" y="9900000"/>
            <a:ext cx="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8B7CFF"/>
                </a:solidFill>
                <a:latin typeface="Rajdhani"/>
              </a:rPr>
              <a:t>03</a:t>
            </a:r>
          </a:p>
        </p:txBody>
      </p:sp>
      <p:sp>
        <p:nvSpPr>
          <p:cNvPr id="28" name="Step 3 Text"/>
          <p:cNvSpPr txBox="1"/>
          <p:nvPr/>
        </p:nvSpPr>
        <p:spPr>
          <a:xfrm>
            <a:off x="17800000" y="9900000"/>
            <a:ext cx="4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KR"/>
              </a:rPr>
              <a:t>실시간 경매에 입찰</a:t>
            </a:r>
          </a:p>
        </p:txBody>
      </p:sp>
      <p:sp>
        <p:nvSpPr>
          <p:cNvPr id="29" name="Step 4 Num"/>
          <p:cNvSpPr txBox="1"/>
          <p:nvPr/>
        </p:nvSpPr>
        <p:spPr>
          <a:xfrm>
            <a:off x="17000000" y="11000000"/>
            <a:ext cx="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8B7CFF"/>
                </a:solidFill>
                <a:latin typeface="Rajdhani"/>
              </a:rPr>
              <a:t>04</a:t>
            </a:r>
          </a:p>
        </p:txBody>
      </p:sp>
      <p:sp>
        <p:nvSpPr>
          <p:cNvPr id="30" name="Step 4 Text"/>
          <p:cNvSpPr txBox="1"/>
          <p:nvPr/>
        </p:nvSpPr>
        <p:spPr>
          <a:xfrm>
            <a:off x="17800000" y="11000000"/>
            <a:ext cx="4600000" cy="6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KR"/>
              </a:rPr>
              <a:t>결제와 창작자 정산</a:t>
            </a:r>
          </a:p>
        </p:txBody>
      </p:sp>
      <p:sp>
        <p:nvSpPr>
          <p:cNvPr id="40" name="Foot"/>
          <p:cNvSpPr txBox="1"/>
          <p:nvPr/>
        </p:nvSpPr>
        <p:spPr>
          <a:xfrm>
            <a:off x="17000000" y="12200000"/>
            <a:ext cx="5400000" cy="7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B7CFF"/>
                </a:solidFill>
                <a:latin typeface="Noto Sans KR"/>
              </a:rPr>
              <a:t>스마트폰 보유 92.2% · 숏폼 시청 41.8%</a:t>
            </a: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4056" y="5200000"/>
            <a:ext cx="15409384" cy="78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"/>
          <p:cNvSpPr txBox="1"/>
          <p:nvPr/>
        </p:nvSpPr>
        <p:spPr>
          <a:xfrm>
            <a:off x="20800000" y="1280160"/>
            <a:ext cx="24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spc="300">
                <a:solidFill>
                  <a:srgbClr val="94A3B8"/>
                </a:solidFill>
                <a:latin typeface="Rajdhani"/>
              </a:rPr>
              <a:t>07 / 07</a:t>
            </a:r>
          </a:p>
        </p:txBody>
      </p:sp>
      <p:sp>
        <p:nvSpPr>
          <p:cNvPr id="3" name="Accent Line"/>
          <p:cNvSpPr/>
          <p:nvPr/>
        </p:nvSpPr>
        <p:spPr>
          <a:xfrm>
            <a:off x="1371600" y="1371600"/>
            <a:ext cx="91440" cy="365760"/>
          </a:xfrm>
          <a:prstGeom prst="rect">
            <a:avLst/>
          </a:prstGeom>
          <a:solidFill>
            <a:srgbClr val="8B7CFF"/>
          </a:solidFill>
          <a:ln>
            <a:solidFill/>
          </a:ln>
        </p:spPr>
        <p:txBody>
          <a:bodyPr/>
          <a:lstStyle/>
          <a:p/>
        </p:txBody>
      </p:sp>
      <p:sp>
        <p:nvSpPr>
          <p:cNvPr id="4" name="Section Label"/>
          <p:cNvSpPr txBox="1"/>
          <p:nvPr/>
        </p:nvSpPr>
        <p:spPr>
          <a:xfrm>
            <a:off x="1645920" y="1371600"/>
            <a:ext cx="60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spc="300">
                <a:solidFill>
                  <a:srgbClr val="8B7CFF"/>
                </a:solidFill>
                <a:latin typeface="Rajdhani"/>
              </a:rPr>
              <a:t>CREATOR ECONOMY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371600" y="2100000"/>
            <a:ext cx="21000000" cy="20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spc="-50">
                <a:solidFill>
                  <a:srgbClr val="FFFFFF"/>
                </a:solidFill>
                <a:latin typeface="Noto Sans KR"/>
              </a:rPr>
              <a:t xml:space="preserve">창작자에게는 </a:t>
            </a:r>
            <a:r>
              <a:rPr sz="3400" b="1" spc="-50">
                <a:solidFill>
                  <a:srgbClr val="8B7CFF"/>
                </a:solidFill>
                <a:latin typeface="Noto Sans KR"/>
              </a:rPr>
              <a:t>새로운 수익 모델</a:t>
            </a:r>
            <a:r>
              <a:rPr sz="3400" b="1" spc="-50">
                <a:solidFill>
                  <a:srgbClr val="FFFFFF"/>
                </a:solidFill>
                <a:latin typeface="Noto Sans KR"/>
              </a:rPr>
              <a:t>이 필요합니다</a:t>
            </a:r>
          </a:p>
        </p:txBody>
      </p:sp>
      <p:sp>
        <p:nvSpPr>
          <p:cNvPr id="10" name="Stat1 BG"/>
          <p:cNvSpPr/>
          <p:nvPr/>
        </p:nvSpPr>
        <p:spPr>
          <a:xfrm>
            <a:off x="960120" y="3411158"/>
            <a:ext cx="6909816" cy="3000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1" name="Stat1 Tag"/>
          <p:cNvSpPr txBox="1"/>
          <p:nvPr/>
        </p:nvSpPr>
        <p:spPr>
          <a:xfrm>
            <a:off x="1417320" y="3711158"/>
            <a:ext cx="6000000" cy="3578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400" b="1" spc="300">
                <a:solidFill>
                  <a:srgbClr val="8b7cff"/>
                </a:solidFill>
                <a:latin typeface="Rajdhani"/>
              </a:rPr>
              <a:t>TOP 10%</a:t>
            </a:r>
            <a:endParaRPr sz="2400" b="1" spc="300">
              <a:solidFill>
                <a:srgbClr val="8b7cff"/>
              </a:solidFill>
              <a:latin typeface="Rajdhani"/>
            </a:endParaRPr>
          </a:p>
        </p:txBody>
      </p:sp>
      <p:sp>
        <p:nvSpPr>
          <p:cNvPr id="12" name="Stat1 Num"/>
          <p:cNvSpPr txBox="1"/>
          <p:nvPr/>
        </p:nvSpPr>
        <p:spPr>
          <a:xfrm>
            <a:off x="1417320" y="4311159"/>
            <a:ext cx="6000000" cy="605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3600" b="1">
                <a:solidFill>
                  <a:srgbClr val="ffffff"/>
                </a:solidFill>
                <a:latin typeface="Rajdhani"/>
              </a:rPr>
              <a:t>50.3</a:t>
            </a:r>
            <a:r>
              <a:rPr sz="4000" b="1">
                <a:solidFill>
                  <a:srgbClr val="ffffff"/>
                </a:solidFill>
                <a:effectLst>
                  <a:glow rad="127000">
                    <a:srgbClr val="ffffff">
                      <a:alpha val="40000"/>
                    </a:srgbClr>
                  </a:glow>
                </a:effectLst>
                <a:latin typeface="Rajdhani"/>
              </a:rPr>
              <a:t>%</a:t>
            </a:r>
            <a:endParaRPr sz="4000" b="1">
              <a:solidFill>
                <a:srgbClr val="ffffff"/>
              </a:solidFill>
              <a:latin typeface="Rajdhani"/>
            </a:endParaRPr>
          </a:p>
        </p:txBody>
      </p:sp>
      <p:sp>
        <p:nvSpPr>
          <p:cNvPr id="13" name="Stat1 Caption"/>
          <p:cNvSpPr txBox="1"/>
          <p:nvPr/>
        </p:nvSpPr>
        <p:spPr>
          <a:xfrm>
            <a:off x="1417320" y="5711159"/>
            <a:ext cx="6000000" cy="39622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lvl="0" algn="l">
              <a:defRPr/>
            </a:pPr>
            <a:r>
              <a:rPr sz="2600" b="0">
                <a:solidFill>
                  <a:srgbClr val="8b7cff"/>
                </a:solidFill>
                <a:latin typeface="Noto Sans KR"/>
              </a:rPr>
              <a:t>상위 10%가 차지하는 전체 수입 비중</a:t>
            </a:r>
            <a:endParaRPr sz="2600" b="0">
              <a:solidFill>
                <a:srgbClr val="8b7cff"/>
              </a:solidFill>
              <a:latin typeface="Noto Sans KR"/>
            </a:endParaRPr>
          </a:p>
        </p:txBody>
      </p:sp>
      <p:sp>
        <p:nvSpPr>
          <p:cNvPr id="20" name="Stat2 BG"/>
          <p:cNvSpPr/>
          <p:nvPr/>
        </p:nvSpPr>
        <p:spPr>
          <a:xfrm>
            <a:off x="8327136" y="3411158"/>
            <a:ext cx="6909816" cy="3000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1" name="Stat2 Tag"/>
          <p:cNvSpPr txBox="1"/>
          <p:nvPr/>
        </p:nvSpPr>
        <p:spPr>
          <a:xfrm>
            <a:off x="8784336" y="3711158"/>
            <a:ext cx="6000000" cy="3578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400" b="1" spc="300">
                <a:solidFill>
                  <a:srgbClr val="8b7cff"/>
                </a:solidFill>
                <a:latin typeface="Rajdhani"/>
              </a:rPr>
              <a:t>TOP 1%</a:t>
            </a:r>
            <a:endParaRPr sz="2400" b="1" spc="300">
              <a:solidFill>
                <a:srgbClr val="8b7cff"/>
              </a:solidFill>
              <a:latin typeface="Rajdhani"/>
            </a:endParaRPr>
          </a:p>
        </p:txBody>
      </p:sp>
      <p:sp>
        <p:nvSpPr>
          <p:cNvPr id="22" name="Stat2 Num"/>
          <p:cNvSpPr txBox="1"/>
          <p:nvPr/>
        </p:nvSpPr>
        <p:spPr>
          <a:xfrm>
            <a:off x="8784336" y="4311159"/>
            <a:ext cx="6000000" cy="605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3600" b="1">
                <a:solidFill>
                  <a:srgbClr val="ffffff"/>
                </a:solidFill>
                <a:latin typeface="Rajdhani"/>
              </a:rPr>
              <a:t>13.25</a:t>
            </a:r>
            <a:r>
              <a:rPr sz="4000" b="1">
                <a:solidFill>
                  <a:srgbClr val="ffffff"/>
                </a:solidFill>
                <a:effectLst>
                  <a:glow rad="127000">
                    <a:srgbClr val="ffffff">
                      <a:alpha val="40000"/>
                    </a:srgbClr>
                  </a:glow>
                </a:effectLst>
                <a:latin typeface="Noto Sans KR"/>
              </a:rPr>
              <a:t>억</a:t>
            </a:r>
            <a:endParaRPr sz="4000" b="1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3" name="Stat2 Caption"/>
          <p:cNvSpPr txBox="1"/>
          <p:nvPr/>
        </p:nvSpPr>
        <p:spPr>
          <a:xfrm>
            <a:off x="8784336" y="5711159"/>
            <a:ext cx="6000000" cy="39622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lvl="0" algn="l">
              <a:defRPr/>
            </a:pPr>
            <a:r>
              <a:rPr sz="2600" b="0">
                <a:solidFill>
                  <a:srgbClr val="8b7cff"/>
                </a:solidFill>
                <a:latin typeface="Noto Sans KR"/>
              </a:rPr>
              <a:t>상위 1% 창작자 연평균 수입</a:t>
            </a:r>
            <a:endParaRPr sz="2600" b="0">
              <a:solidFill>
                <a:srgbClr val="8b7cff"/>
              </a:solidFill>
              <a:latin typeface="Noto Sans KR"/>
            </a:endParaRPr>
          </a:p>
        </p:txBody>
      </p:sp>
      <p:sp>
        <p:nvSpPr>
          <p:cNvPr id="30" name="Stat3 BG"/>
          <p:cNvSpPr/>
          <p:nvPr/>
        </p:nvSpPr>
        <p:spPr>
          <a:xfrm>
            <a:off x="15694152" y="3411158"/>
            <a:ext cx="6909816" cy="3000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1" name="Stat3 Tag"/>
          <p:cNvSpPr txBox="1"/>
          <p:nvPr/>
        </p:nvSpPr>
        <p:spPr>
          <a:xfrm>
            <a:off x="16151352" y="3711158"/>
            <a:ext cx="6000000" cy="3578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400" b="1" spc="300">
                <a:solidFill>
                  <a:srgbClr val="8b7cff"/>
                </a:solidFill>
                <a:latin typeface="Rajdhani"/>
              </a:rPr>
              <a:t>BOTTOM 50%</a:t>
            </a:r>
            <a:endParaRPr sz="2400" b="1" spc="300">
              <a:solidFill>
                <a:srgbClr val="8b7cff"/>
              </a:solidFill>
              <a:latin typeface="Rajdhani"/>
            </a:endParaRPr>
          </a:p>
        </p:txBody>
      </p:sp>
      <p:sp>
        <p:nvSpPr>
          <p:cNvPr id="32" name="Stat3 Num"/>
          <p:cNvSpPr txBox="1"/>
          <p:nvPr/>
        </p:nvSpPr>
        <p:spPr>
          <a:xfrm>
            <a:off x="16151352" y="4311159"/>
            <a:ext cx="6000000" cy="605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3600" b="1">
                <a:solidFill>
                  <a:srgbClr val="ffffff"/>
                </a:solidFill>
                <a:latin typeface="Rajdhani"/>
              </a:rPr>
              <a:t>1,800</a:t>
            </a:r>
            <a:r>
              <a:rPr sz="4000" b="1">
                <a:solidFill>
                  <a:srgbClr val="ffffff"/>
                </a:solidFill>
                <a:effectLst>
                  <a:glow rad="127000">
                    <a:srgbClr val="ffffff">
                      <a:alpha val="40000"/>
                    </a:srgbClr>
                  </a:glow>
                </a:effectLst>
                <a:latin typeface="Noto Sans KR"/>
              </a:rPr>
              <a:t>만</a:t>
            </a:r>
            <a:endParaRPr sz="4000" b="1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3" name="Stat3 Caption"/>
          <p:cNvSpPr txBox="1"/>
          <p:nvPr/>
        </p:nvSpPr>
        <p:spPr>
          <a:xfrm>
            <a:off x="16151352" y="5711159"/>
            <a:ext cx="6000000" cy="39622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lvl="0" algn="l">
              <a:defRPr/>
            </a:pPr>
            <a:r>
              <a:rPr sz="2600" b="0">
                <a:solidFill>
                  <a:srgbClr val="8b7cff"/>
                </a:solidFill>
                <a:latin typeface="Noto Sans KR"/>
              </a:rPr>
              <a:t>하위 50% 창작자 연평균 수입</a:t>
            </a:r>
            <a:endParaRPr sz="2600" b="0">
              <a:solidFill>
                <a:srgbClr val="8b7cff"/>
              </a:solidFill>
              <a:latin typeface="Noto Sans KR"/>
            </a:endParaRPr>
          </a:p>
        </p:txBody>
      </p:sp>
      <p:sp>
        <p:nvSpPr>
          <p:cNvPr id="40" name="Chart Card"/>
          <p:cNvSpPr/>
          <p:nvPr/>
        </p:nvSpPr>
        <p:spPr>
          <a:xfrm>
            <a:off x="1371600" y="7113171"/>
            <a:ext cx="21643848" cy="5986829"/>
          </a:xfrm>
          <a:prstGeom prst="roundRect">
            <a:avLst>
              <a:gd name="adj" fmla="val 35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0" name="Bottom Note"/>
          <p:cNvSpPr txBox="1"/>
          <p:nvPr/>
        </p:nvSpPr>
        <p:spPr>
          <a:xfrm>
            <a:off x="1371600" y="13150000"/>
            <a:ext cx="21643848" cy="400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7CFF"/>
                </a:solidFill>
                <a:latin typeface="Noto Sans KR"/>
              </a:rPr>
              <a:t>BIDEO는 직접 거래로 이 수익 격차를 좁힙니다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7463437"/>
            <a:ext cx="8141970" cy="745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sz="4300" b="1">
                <a:solidFill>
                  <a:srgbClr val="f1f1f1"/>
                </a:solidFill>
              </a:rPr>
              <a:t>창작자 수익 격차와 BIDEO의 해법</a:t>
            </a:r>
            <a:endParaRPr sz="4300" b="1">
              <a:solidFill>
                <a:srgbClr val="f1f1f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737360" y="9380982"/>
            <a:ext cx="1226820" cy="437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defRPr/>
            </a:pPr>
            <a:r>
              <a:rPr sz="2300">
                <a:solidFill>
                  <a:srgbClr val="f1f1f1"/>
                </a:solidFill>
              </a:rPr>
              <a:t>상위 1%</a:t>
            </a:r>
            <a:endParaRPr sz="2300">
              <a:solidFill>
                <a:srgbClr val="f1f1f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063239" y="9372600"/>
            <a:ext cx="1097280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63239" y="9372600"/>
            <a:ext cx="10972800" cy="548640"/>
          </a:xfrm>
          <a:prstGeom prst="rect">
            <a:avLst/>
          </a:prstGeom>
          <a:solidFill>
            <a:srgbClr val="680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55" name="TextBox 54"/>
          <p:cNvSpPr txBox="1"/>
          <p:nvPr/>
        </p:nvSpPr>
        <p:spPr>
          <a:xfrm>
            <a:off x="13110400" y="8380094"/>
            <a:ext cx="2297240" cy="666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sz="3800" b="1">
                <a:solidFill>
                  <a:srgbClr val="a89bff"/>
                </a:solidFill>
              </a:rPr>
              <a:t>13.25억원</a:t>
            </a:r>
            <a:endParaRPr sz="3800" b="1">
              <a:solidFill>
                <a:srgbClr val="a89bff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813560" y="10332719"/>
            <a:ext cx="1112520" cy="438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defRPr/>
            </a:pPr>
            <a:r>
              <a:rPr sz="1600" b="0">
                <a:solidFill>
                  <a:srgbClr val="f1f1f1"/>
                </a:solidFill>
              </a:rPr>
              <a:t>상위 </a:t>
            </a:r>
            <a:r>
              <a:rPr sz="2300" b="0">
                <a:solidFill>
                  <a:srgbClr val="f1f1f1"/>
                </a:solidFill>
              </a:rPr>
              <a:t>10</a:t>
            </a:r>
            <a:r>
              <a:rPr sz="1600" b="0">
                <a:solidFill>
                  <a:srgbClr val="f1f1f1"/>
                </a:solidFill>
              </a:rPr>
              <a:t>%</a:t>
            </a:r>
            <a:endParaRPr sz="1600" b="0">
              <a:solidFill>
                <a:srgbClr val="f1f1f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063239" y="10305288"/>
            <a:ext cx="1097280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063239" y="10305288"/>
            <a:ext cx="2153153" cy="54864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80985" y="10323576"/>
            <a:ext cx="1425580" cy="5234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sz="2900" b="0">
                <a:solidFill>
                  <a:srgbClr val="a89bff"/>
                </a:solidFill>
              </a:rPr>
              <a:t>2.6억원</a:t>
            </a:r>
            <a:endParaRPr sz="2900" b="0">
              <a:solidFill>
                <a:srgbClr val="a89bff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899285" y="11265407"/>
            <a:ext cx="1026795" cy="334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defRPr/>
            </a:pPr>
            <a:r>
              <a:rPr sz="1600" b="0">
                <a:solidFill>
                  <a:srgbClr val="f1f1f1"/>
                </a:solidFill>
              </a:rPr>
              <a:t>중위 40%</a:t>
            </a:r>
            <a:endParaRPr sz="1600" b="0">
              <a:solidFill>
                <a:srgbClr val="f1f1f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063239" y="11237976"/>
            <a:ext cx="1097280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63239" y="11237976"/>
            <a:ext cx="414067" cy="548640"/>
          </a:xfrm>
          <a:prstGeom prst="rect">
            <a:avLst/>
          </a:prstGeom>
          <a:solidFill>
            <a:srgbClr val="3A2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70474" y="11288267"/>
            <a:ext cx="1202516" cy="4480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sz="2400" b="0">
                <a:solidFill>
                  <a:srgbClr val="a89bff"/>
                </a:solidFill>
              </a:rPr>
              <a:t>0.5억원</a:t>
            </a:r>
            <a:endParaRPr sz="2400" b="0">
              <a:solidFill>
                <a:srgbClr val="a89bff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899285" y="12198096"/>
            <a:ext cx="1026795" cy="3348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defRPr/>
            </a:pPr>
            <a:r>
              <a:rPr sz="1600" b="0">
                <a:solidFill>
                  <a:srgbClr val="f1f1f1"/>
                </a:solidFill>
              </a:rPr>
              <a:t>하위 50%</a:t>
            </a:r>
            <a:endParaRPr sz="1600" b="0">
              <a:solidFill>
                <a:srgbClr val="f1f1f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063239" y="12170664"/>
            <a:ext cx="1097280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63239" y="12170664"/>
            <a:ext cx="228600" cy="5486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31536" y="12211050"/>
            <a:ext cx="1416558" cy="4678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sz="2500" b="0">
                <a:solidFill>
                  <a:srgbClr val="a89bff"/>
                </a:solidFill>
              </a:rPr>
              <a:t>0.18억원</a:t>
            </a:r>
            <a:endParaRPr sz="2500" b="0">
              <a:solidFill>
                <a:srgbClr val="a89bff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4132052" y="9099804"/>
            <a:ext cx="1637538" cy="413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sz="2100" b="1">
                <a:solidFill>
                  <a:srgbClr val="a89bff"/>
                </a:solidFill>
              </a:rPr>
              <a:t>▲ 73배 격차</a:t>
            </a:r>
            <a:endParaRPr sz="2100" b="1">
              <a:solidFill>
                <a:srgbClr val="a89bff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6154400" y="7463437"/>
            <a:ext cx="6172200" cy="5340096"/>
          </a:xfrm>
          <a:prstGeom prst="rect">
            <a:avLst/>
          </a:prstGeom>
          <a:solidFill>
            <a:srgbClr val="1a0a3a"/>
          </a:solidFill>
          <a:ln w="1905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8701384" y="7888605"/>
            <a:ext cx="107823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sz="2600" b="1">
                <a:solidFill>
                  <a:srgbClr val="f1f1f1"/>
                </a:solidFill>
              </a:rPr>
              <a:t>BIDEO</a:t>
            </a:r>
            <a:endParaRPr sz="2600" b="1">
              <a:solidFill>
                <a:srgbClr val="f1f1f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8325148" y="8968930"/>
            <a:ext cx="1830704" cy="545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3000" b="1">
                <a:solidFill>
                  <a:srgbClr val="f1f1f1"/>
                </a:solidFill>
              </a:rPr>
              <a:t>직접 거래</a:t>
            </a:r>
            <a:endParaRPr lang="ko-KR" altLang="en-US" sz="3000" b="1">
              <a:solidFill>
                <a:srgbClr val="f1f1f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225136" y="9833600"/>
            <a:ext cx="2106930" cy="5467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sz="3000" b="0">
                <a:solidFill>
                  <a:srgbClr val="717171"/>
                </a:solidFill>
              </a:rPr>
              <a:t>수수료 10%</a:t>
            </a:r>
            <a:endParaRPr sz="3000" b="0">
              <a:solidFill>
                <a:srgbClr val="71717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712922" y="10566082"/>
            <a:ext cx="3145154" cy="57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3200" b="1">
                <a:solidFill>
                  <a:srgbClr val="a89bff"/>
                </a:solidFill>
              </a:rPr>
              <a:t>창작자 90% 정산</a:t>
            </a:r>
            <a:endParaRPr sz="3200" b="1">
              <a:solidFill>
                <a:srgbClr val="a89bff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7712922" y="11404092"/>
            <a:ext cx="3249930" cy="5768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sz="3200" b="0">
                <a:solidFill>
                  <a:srgbClr val="717171"/>
                </a:solidFill>
              </a:rPr>
              <a:t>낙찰가 직접 수령</a:t>
            </a:r>
            <a:endParaRPr lang="ko-KR" altLang="en-US" sz="3200" b="0">
              <a:solidFill>
                <a:srgbClr val="71717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7048" cy="13716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l">
              <a:defRPr/>
            </a:pPr>
            <a:endParaRPr lang="en-US" altLang="ko-KR" sz="6000" b="1">
              <a:solidFill>
                <a:srgbClr val="ffffff"/>
              </a:solidFill>
              <a:latin typeface="Rajdhani"/>
            </a:endParaRPr>
          </a:p>
        </p:txBody>
      </p:sp>
      <p:pic>
        <p:nvPicPr>
          <p:cNvPr id="14" name="Picture 13" descr="cubes_fad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487400" y="2011680"/>
            <a:ext cx="10515600" cy="8778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1371600"/>
            <a:ext cx="91440" cy="36576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8B7CFF"/>
                </a:solidFill>
                <a:latin typeface="Rajdhani"/>
              </a:rPr>
              <a:t>Q &amp; A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548640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6000" b="1">
                <a:solidFill>
                  <a:srgbClr val="ffffff"/>
                </a:solidFill>
                <a:effectLst>
                  <a:glow rad="127000">
                    <a:srgbClr val="ffffff">
                      <a:alpha val="40000"/>
                    </a:srgbClr>
                  </a:glow>
                </a:effectLst>
                <a:latin typeface="Rajdhani"/>
              </a:rPr>
              <a:t>Q</a:t>
            </a:r>
            <a:endParaRPr sz="6000" b="1">
              <a:solidFill>
                <a:srgbClr val="ffffff"/>
              </a:solidFill>
              <a:effectLst>
                <a:glow rad="127000">
                  <a:srgbClr val="ffffff">
                    <a:alpha val="40000"/>
                  </a:srgbClr>
                </a:glow>
              </a:effectLst>
              <a:latin typeface="Rajdhan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2614" y="2560320"/>
            <a:ext cx="73152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en-US" altLang="ko-KR" sz="6600" b="1">
                <a:solidFill>
                  <a:srgbClr val="8b7cff"/>
                </a:solidFill>
                <a:effectLst>
                  <a:glow rad="127000">
                    <a:srgbClr val="8b7cff">
                      <a:alpha val="40000"/>
                    </a:srgbClr>
                  </a:glow>
                </a:effectLst>
                <a:latin typeface="Rajdhani"/>
              </a:rPr>
              <a:t>&amp;</a:t>
            </a:r>
            <a:endParaRPr lang="en-US" altLang="ko-KR" sz="6600" b="1">
              <a:solidFill>
                <a:srgbClr val="8b7cff"/>
              </a:solidFill>
              <a:latin typeface="Rajdhan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786384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00" b="1">
                <a:solidFill>
                  <a:srgbClr val="C2CCDA"/>
                </a:solidFill>
                <a:latin typeface="Noto Sans KR"/>
              </a:rPr>
              <a:t>궁금하신 점을 자유롭게 질문해 주세요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8961120"/>
            <a:ext cx="9144000" cy="4572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9601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Rajdhani"/>
              </a:rPr>
              <a:t>BIDEO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33272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0">
                <a:solidFill>
                  <a:srgbClr val="94A3B8"/>
                </a:solidFill>
                <a:latin typeface="Noto Sans KR"/>
              </a:rPr>
              <a:t>영상을 사고파는, 입찰로 소장하는 모바일 영상 경매 플랫폼</a:t>
            </a:r>
          </a:p>
        </p:txBody>
      </p:sp>
      <p:sp>
        <p:nvSpPr>
          <p:cNvPr id="11" name="Oval 10"/>
          <p:cNvSpPr/>
          <p:nvPr/>
        </p:nvSpPr>
        <p:spPr>
          <a:xfrm>
            <a:off x="15087599" y="4206240"/>
            <a:ext cx="7315200" cy="7315200"/>
          </a:xfrm>
          <a:prstGeom prst="ellipse">
            <a:avLst/>
          </a:prstGeom>
          <a:noFill/>
          <a:ln w="254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13716000" y="2286000"/>
            <a:ext cx="4572000" cy="4572000"/>
          </a:xfrm>
          <a:prstGeom prst="ellipse">
            <a:avLst/>
          </a:prstGeom>
          <a:noFill/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6002000" y="3474720"/>
            <a:ext cx="6400800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6200" b="1">
                <a:solidFill>
                  <a:srgbClr val="1e3a4a"/>
                </a:solidFill>
                <a:effectLst>
                  <a:glow rad="127000">
                    <a:srgbClr val="1e3a4a">
                      <a:alpha val="40000"/>
                    </a:srgbClr>
                  </a:glow>
                </a:effectLst>
                <a:latin typeface="Rajdhani"/>
              </a:rPr>
              <a:t>?</a:t>
            </a:r>
            <a:endParaRPr sz="6200" b="1">
              <a:solidFill>
                <a:srgbClr val="1e3a4a"/>
              </a:solidFill>
              <a:latin typeface="Rajdhani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2598420" y="2569845"/>
            <a:ext cx="548640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en-US" altLang="ko-KR" sz="6000" b="1">
                <a:solidFill>
                  <a:srgbClr val="ffffff"/>
                </a:solidFill>
                <a:effectLst>
                  <a:glow rad="127000">
                    <a:srgbClr val="ffffff">
                      <a:alpha val="40000"/>
                    </a:srgbClr>
                  </a:glow>
                </a:effectLst>
                <a:latin typeface="Rajdhani"/>
              </a:rPr>
              <a:t>A</a:t>
            </a:r>
            <a:endParaRPr lang="en-US" altLang="ko-KR" sz="6000" b="1">
              <a:solidFill>
                <a:srgbClr val="ffffff"/>
              </a:solidFill>
              <a:effectLst>
                <a:glow rad="127000">
                  <a:srgbClr val="ffffff">
                    <a:alpha val="40000"/>
                  </a:srgbClr>
                </a:glow>
              </a:effectLst>
              <a:latin typeface="Rajdhani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"/>
          <p:cNvSpPr txBox="1"/>
          <p:nvPr/>
        </p:nvSpPr>
        <p:spPr>
          <a:xfrm>
            <a:off x="20800000" y="1280160"/>
            <a:ext cx="24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spc="300">
                <a:solidFill>
                  <a:srgbClr val="94A3B8"/>
                </a:solidFill>
                <a:latin typeface="Rajdhani"/>
              </a:rPr>
              <a:t>04 / 07</a:t>
            </a:r>
          </a:p>
        </p:txBody>
      </p:sp>
      <p:sp>
        <p:nvSpPr>
          <p:cNvPr id="3" name="Accent Line"/>
          <p:cNvSpPr/>
          <p:nvPr/>
        </p:nvSpPr>
        <p:spPr>
          <a:xfrm>
            <a:off x="1371600" y="1371600"/>
            <a:ext cx="91440" cy="365760"/>
          </a:xfrm>
          <a:prstGeom prst="rect">
            <a:avLst/>
          </a:prstGeom>
          <a:solidFill>
            <a:srgbClr val="8B7CFF"/>
          </a:solidFill>
          <a:ln>
            <a:solidFill/>
          </a:ln>
        </p:spPr>
        <p:txBody>
          <a:bodyPr/>
          <a:lstStyle/>
          <a:p/>
        </p:txBody>
      </p:sp>
      <p:sp>
        <p:nvSpPr>
          <p:cNvPr id="4" name="Section Label"/>
          <p:cNvSpPr txBox="1"/>
          <p:nvPr/>
        </p:nvSpPr>
        <p:spPr>
          <a:xfrm>
            <a:off x="1645920" y="1371600"/>
            <a:ext cx="6000000" cy="4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spc="300">
                <a:solidFill>
                  <a:srgbClr val="8B7CFF"/>
                </a:solidFill>
                <a:latin typeface="Rajdhani"/>
              </a:rPr>
              <a:t>WHY AUCTION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371600" y="2100000"/>
            <a:ext cx="21000000" cy="200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spc="-50">
                <a:solidFill>
                  <a:srgbClr val="FFFFFF"/>
                </a:solidFill>
                <a:latin typeface="Noto Sans KR"/>
              </a:rPr>
              <a:t xml:space="preserve">정해진 가격이 아니라, </a:t>
            </a:r>
            <a:r>
              <a:rPr sz="3400" b="1" spc="-50">
                <a:solidFill>
                  <a:srgbClr val="8B7CFF"/>
                </a:solidFill>
                <a:latin typeface="Noto Sans KR"/>
              </a:rPr>
              <a:t>시장이 결정하는 가치</a:t>
            </a:r>
          </a:p>
        </p:txBody>
      </p:sp>
      <p:sp>
        <p:nvSpPr>
          <p:cNvPr id="10" name="Left Card BG"/>
          <p:cNvSpPr/>
          <p:nvPr/>
        </p:nvSpPr>
        <p:spPr>
          <a:xfrm>
            <a:off x="1371600" y="5200000"/>
            <a:ext cx="10500000" cy="7800000"/>
          </a:xfrm>
          <a:prstGeom prst="roundRect">
            <a:avLst>
              <a:gd name="adj" fmla="val 4000"/>
            </a:avLst>
          </a:prstGeom>
          <a:solidFill>
            <a:srgbClr val="141C2B"/>
          </a:solidFill>
          <a:ln w="12700">
            <a:solidFill>
              <a:srgbClr val="1F2937"/>
            </a:solidFill>
          </a:ln>
        </p:spPr>
        <p:txBody>
          <a:bodyPr/>
          <a:lstStyle/>
          <a:p/>
        </p:txBody>
      </p:sp>
      <p:sp>
        <p:nvSpPr>
          <p:cNvPr id="11" name="Left Card Label"/>
          <p:cNvSpPr txBox="1"/>
          <p:nvPr/>
        </p:nvSpPr>
        <p:spPr>
          <a:xfrm>
            <a:off x="1871600" y="555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spc="300">
                <a:solidFill>
                  <a:srgbClr val="94A3B8"/>
                </a:solidFill>
                <a:latin typeface="Rajdhani"/>
              </a:rPr>
              <a:t>FIXED PRICE</a:t>
            </a:r>
          </a:p>
        </p:txBody>
      </p:sp>
      <p:sp>
        <p:nvSpPr>
          <p:cNvPr id="12" name="Left Card Title"/>
          <p:cNvSpPr txBox="1"/>
          <p:nvPr/>
        </p:nvSpPr>
        <p:spPr>
          <a:xfrm>
            <a:off x="1871600" y="620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C2CCDA"/>
                </a:solidFill>
                <a:latin typeface="Noto Sans KR"/>
              </a:rPr>
              <a:t>기존 가격제</a:t>
            </a:r>
          </a:p>
        </p:txBody>
      </p:sp>
      <p:sp>
        <p:nvSpPr>
          <p:cNvPr id="13" name="Left Row1 Label"/>
          <p:cNvSpPr txBox="1"/>
          <p:nvPr/>
        </p:nvSpPr>
        <p:spPr>
          <a:xfrm>
            <a:off x="1871600" y="770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200">
                <a:solidFill>
                  <a:srgbClr val="94A3B8"/>
                </a:solidFill>
                <a:latin typeface="Rajdhani"/>
              </a:rPr>
              <a:t>01  PRICE</a:t>
            </a:r>
          </a:p>
        </p:txBody>
      </p:sp>
      <p:sp>
        <p:nvSpPr>
          <p:cNvPr id="14" name="Left Row1 Value"/>
          <p:cNvSpPr txBox="1"/>
          <p:nvPr/>
        </p:nvSpPr>
        <p:spPr>
          <a:xfrm>
            <a:off x="1871600" y="8200000"/>
            <a:ext cx="9500000" cy="7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R"/>
              </a:rPr>
              <a:t>창작자가 임의로 책정</a:t>
            </a:r>
          </a:p>
        </p:txBody>
      </p:sp>
      <p:sp>
        <p:nvSpPr>
          <p:cNvPr id="15" name="Left Row2 Label"/>
          <p:cNvSpPr txBox="1"/>
          <p:nvPr/>
        </p:nvSpPr>
        <p:spPr>
          <a:xfrm>
            <a:off x="1871600" y="945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200">
                <a:solidFill>
                  <a:srgbClr val="94A3B8"/>
                </a:solidFill>
                <a:latin typeface="Rajdhani"/>
              </a:rPr>
              <a:t>02  REVENUE</a:t>
            </a:r>
          </a:p>
        </p:txBody>
      </p:sp>
      <p:sp>
        <p:nvSpPr>
          <p:cNvPr id="16" name="Left Row2 Value"/>
          <p:cNvSpPr txBox="1"/>
          <p:nvPr/>
        </p:nvSpPr>
        <p:spPr>
          <a:xfrm>
            <a:off x="1871600" y="9950000"/>
            <a:ext cx="9500000" cy="7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R"/>
              </a:rPr>
              <a:t>수익 상한선이 존재</a:t>
            </a:r>
          </a:p>
        </p:txBody>
      </p:sp>
      <p:sp>
        <p:nvSpPr>
          <p:cNvPr id="17" name="Left Row3 Label"/>
          <p:cNvSpPr txBox="1"/>
          <p:nvPr/>
        </p:nvSpPr>
        <p:spPr>
          <a:xfrm>
            <a:off x="1871600" y="1120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200">
                <a:solidFill>
                  <a:srgbClr val="94A3B8"/>
                </a:solidFill>
                <a:latin typeface="Rajdhani"/>
              </a:rPr>
              <a:t>03  OWNERSHIP</a:t>
            </a:r>
          </a:p>
        </p:txBody>
      </p:sp>
      <p:sp>
        <p:nvSpPr>
          <p:cNvPr id="18" name="Left Row3 Value"/>
          <p:cNvSpPr txBox="1"/>
          <p:nvPr/>
        </p:nvSpPr>
        <p:spPr>
          <a:xfrm>
            <a:off x="1871600" y="11700000"/>
            <a:ext cx="9500000" cy="7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R"/>
              </a:rPr>
              <a:t>1회성 소비에 가까움</a:t>
            </a:r>
          </a:p>
        </p:txBody>
      </p:sp>
      <p:sp>
        <p:nvSpPr>
          <p:cNvPr id="30" name="Right Card BG"/>
          <p:cNvSpPr/>
          <p:nvPr/>
        </p:nvSpPr>
        <p:spPr>
          <a:xfrm>
            <a:off x="12471600" y="5200000"/>
            <a:ext cx="10500000" cy="7800000"/>
          </a:xfrm>
          <a:prstGeom prst="roundRect">
            <a:avLst>
              <a:gd name="adj" fmla="val 4000"/>
            </a:avLst>
          </a:prstGeom>
          <a:solidFill>
            <a:srgbClr val="141C2B"/>
          </a:solidFill>
          <a:ln w="25400">
            <a:solidFill>
              <a:srgbClr val="8B7CFF"/>
            </a:solidFill>
          </a:ln>
        </p:spPr>
        <p:txBody>
          <a:bodyPr/>
          <a:lstStyle/>
          <a:p/>
        </p:txBody>
      </p:sp>
      <p:sp>
        <p:nvSpPr>
          <p:cNvPr id="31" name="Right Card Label"/>
          <p:cNvSpPr txBox="1"/>
          <p:nvPr/>
        </p:nvSpPr>
        <p:spPr>
          <a:xfrm>
            <a:off x="12971600" y="555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spc="300">
                <a:solidFill>
                  <a:srgbClr val="8B7CFF"/>
                </a:solidFill>
                <a:latin typeface="Rajdhani"/>
              </a:rPr>
              <a:t>BIDEO AUCTION</a:t>
            </a:r>
          </a:p>
        </p:txBody>
      </p:sp>
      <p:sp>
        <p:nvSpPr>
          <p:cNvPr id="32" name="Right Card Title"/>
          <p:cNvSpPr txBox="1"/>
          <p:nvPr/>
        </p:nvSpPr>
        <p:spPr>
          <a:xfrm>
            <a:off x="12971600" y="620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Noto Sans KR"/>
              </a:rPr>
              <a:t>경매 모델</a:t>
            </a:r>
          </a:p>
        </p:txBody>
      </p:sp>
      <p:sp>
        <p:nvSpPr>
          <p:cNvPr id="33" name="Right Row1 Label"/>
          <p:cNvSpPr txBox="1"/>
          <p:nvPr/>
        </p:nvSpPr>
        <p:spPr>
          <a:xfrm>
            <a:off x="12971600" y="770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200">
                <a:solidFill>
                  <a:srgbClr val="8B7CFF"/>
                </a:solidFill>
                <a:latin typeface="Rajdhani"/>
              </a:rPr>
              <a:t>01  PRICE</a:t>
            </a:r>
          </a:p>
        </p:txBody>
      </p:sp>
      <p:sp>
        <p:nvSpPr>
          <p:cNvPr id="34" name="Right Row1 Value"/>
          <p:cNvSpPr txBox="1"/>
          <p:nvPr/>
        </p:nvSpPr>
        <p:spPr>
          <a:xfrm>
            <a:off x="12971600" y="8200000"/>
            <a:ext cx="9500000" cy="7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R"/>
              </a:rPr>
              <a:t>시장이 입찰로 결정</a:t>
            </a:r>
          </a:p>
        </p:txBody>
      </p:sp>
      <p:sp>
        <p:nvSpPr>
          <p:cNvPr id="35" name="Right Row2 Label"/>
          <p:cNvSpPr txBox="1"/>
          <p:nvPr/>
        </p:nvSpPr>
        <p:spPr>
          <a:xfrm>
            <a:off x="12971600" y="945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200">
                <a:solidFill>
                  <a:srgbClr val="8B7CFF"/>
                </a:solidFill>
                <a:latin typeface="Rajdhani"/>
              </a:rPr>
              <a:t>02  REVENUE</a:t>
            </a:r>
          </a:p>
        </p:txBody>
      </p:sp>
      <p:sp>
        <p:nvSpPr>
          <p:cNvPr id="36" name="Right Row2 Value"/>
          <p:cNvSpPr txBox="1"/>
          <p:nvPr/>
        </p:nvSpPr>
        <p:spPr>
          <a:xfrm>
            <a:off x="12971600" y="9950000"/>
            <a:ext cx="9500000" cy="7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R"/>
              </a:rPr>
              <a:t>상한 없는 낙찰가</a:t>
            </a:r>
          </a:p>
        </p:txBody>
      </p:sp>
      <p:sp>
        <p:nvSpPr>
          <p:cNvPr id="37" name="Right Row3 Label"/>
          <p:cNvSpPr txBox="1"/>
          <p:nvPr/>
        </p:nvSpPr>
        <p:spPr>
          <a:xfrm>
            <a:off x="12971600" y="11200000"/>
            <a:ext cx="9500000" cy="5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spc="200">
                <a:solidFill>
                  <a:srgbClr val="8B7CFF"/>
                </a:solidFill>
                <a:latin typeface="Rajdhani"/>
              </a:rPr>
              <a:t>03  OWNERSHIP</a:t>
            </a:r>
          </a:p>
        </p:txBody>
      </p:sp>
      <p:sp>
        <p:nvSpPr>
          <p:cNvPr id="38" name="Right Row3 Value"/>
          <p:cNvSpPr txBox="1"/>
          <p:nvPr/>
        </p:nvSpPr>
        <p:spPr>
          <a:xfrm>
            <a:off x="12971600" y="11700000"/>
            <a:ext cx="9500000" cy="70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KR"/>
              </a:rPr>
              <a:t>디지털 자산으로 소장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290</ep:Words>
  <ep:PresentationFormat>On-screen Show (4:3)</ep:PresentationFormat>
  <ep:Paragraphs>150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dlwns</cp:lastModifiedBy>
  <dcterms:modified xsi:type="dcterms:W3CDTF">2026-05-21T00:33:57.650</dcterms:modified>
  <cp:revision>19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